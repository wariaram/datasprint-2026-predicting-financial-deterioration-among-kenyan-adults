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Financial Status</c:v>
                </c:pt>
              </c:strCache>
            </c:strRef>
          </c:tx>
          <c:spPr>
            <a:solidFill>
              <a:schemeClr val="accent1"/>
            </a:solidFill>
            <a:ln w="9525" cap="flat">
              <a:solidFill>
                <a:srgbClr val="F9F9F9"/>
              </a:solidFill>
              <a:prstDash val="solid"/>
              <a:round/>
            </a:ln>
            <a:effectLst/>
          </c:spPr>
          <c:dPt>
            <c:idx val="0"/>
            <c:bubble3D val="0"/>
            <c:spPr>
              <a:solidFill>
                <a:srgbClr val="4A6FA5"/>
              </a:solidFill>
              <a:effectLst/>
            </c:spPr>
          </c:dPt>
          <c:dPt>
            <c:idx val="1"/>
            <c:bubble3D val="0"/>
            <c:spPr>
              <a:solidFill>
                <a:srgbClr val="CADCFC"/>
              </a:solidFill>
              <a:effectLst/>
            </c:spPr>
          </c:dPt>
          <c:dPt>
            <c:idx val="2"/>
            <c:bubble3D val="0"/>
            <c:spPr>
              <a:solidFill>
                <a:srgbClr val="E8A838"/>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Worsened</c:v>
                </c:pt>
                <c:pt idx="1">
                  <c:v>Stayed the same</c:v>
                </c:pt>
                <c:pt idx="2">
                  <c:v>Improved</c:v>
                </c:pt>
              </c:strCache>
            </c:strRef>
          </c:cat>
          <c:val>
            <c:numRef>
              <c:f>Sheet1!$B$2:$B$4</c:f>
              <c:numCache>
                <c:ptCount val="3"/>
                <c:pt idx="0">
                  <c:v>52.6</c:v>
                </c:pt>
                <c:pt idx="1">
                  <c:v>26.9</c:v>
                </c:pt>
                <c:pt idx="2">
                  <c:v>20.5</c:v>
                </c:pt>
              </c:numCache>
            </c:numRef>
          </c:val>
        </c:ser>
        <c:firstSliceAng val="0"/>
      </c:pieChart>
      <c:spPr>
        <a:noFill/>
        <a:ln>
          <a:noFill/>
        </a:ln>
        <a:effectLst/>
      </c:spPr>
    </c:plotArea>
    <c:legend>
      <c:legendPos val="r"/>
      <c:overlay val="0"/>
      <c:txPr>
        <a:bodyPr/>
        <a:lstStyle/>
        <a:p>
          <a:pPr>
            <a:defRPr sz="1000">
              <a:solidFill>
                <a:srgbClr val="FFFFFF"/>
              </a:solidFill>
            </a:defRPr>
          </a:pPr>
          <a:endParaRPr lang="en-US"/>
        </a:p>
      </c:txPr>
    </c:legend>
    <c:plotVisOnly val="1"/>
    <c:dispBlanksAs val="span"/>
  </c:chart>
  <c:spPr>
    <a:solidFill>
      <a:srgbClr val="1E276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Worsened</c:v>
                </c:pt>
              </c:strCache>
            </c:strRef>
          </c:tx>
          <c:spPr>
            <a:solidFill>
              <a:srgbClr val="4A6FA5"/>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Sheet1!$A$2:$A$3</c:f>
              <c:multiLvlStrCache>
                <c:ptCount val="2"/>
                <c:lvl>
                  <c:pt idx="0">
                    <c:v>Urban</c:v>
                  </c:pt>
                  <c:pt idx="1">
                    <c:v>Rural</c:v>
                  </c:pt>
                </c:lvl>
              </c:multiLvlStrCache>
            </c:multiLvlStrRef>
          </c:cat>
          <c:val>
            <c:numRef>
              <c:f>Sheet1!$B$2:$B$3</c:f>
              <c:numCache>
                <c:formatCode>General</c:formatCode>
                <c:ptCount val="2"/>
                <c:pt idx="0">
                  <c:v>50.8</c:v>
                </c:pt>
                <c:pt idx="1">
                  <c:v>53.6</c:v>
                </c:pt>
              </c:numCache>
            </c:numRef>
          </c:val>
        </c:ser>
        <c:ser>
          <c:idx val="1"/>
          <c:order val="1"/>
          <c:tx>
            <c:strRef>
              <c:f>Sheet1!$C$1</c:f>
              <c:strCache>
                <c:ptCount val="1"/>
                <c:pt idx="0">
                  <c:v>Stayed the same</c:v>
                </c:pt>
              </c:strCache>
            </c:strRef>
          </c:tx>
          <c:spPr>
            <a:solidFill>
              <a:srgbClr val="CADCFC"/>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Sheet1!$A$2:$A$3</c:f>
              <c:multiLvlStrCache>
                <c:ptCount val="2"/>
                <c:lvl>
                  <c:pt idx="0">
                    <c:v>Urban</c:v>
                  </c:pt>
                  <c:pt idx="1">
                    <c:v>Rural</c:v>
                  </c:pt>
                </c:lvl>
              </c:multiLvlStrCache>
            </c:multiLvlStrRef>
          </c:cat>
          <c:val>
            <c:numRef>
              <c:f>Sheet1!$C$2:$C$3</c:f>
              <c:numCache>
                <c:formatCode>General</c:formatCode>
                <c:ptCount val="2"/>
                <c:pt idx="0">
                  <c:v>26.6</c:v>
                </c:pt>
                <c:pt idx="1">
                  <c:v>27</c:v>
                </c:pt>
              </c:numCache>
            </c:numRef>
          </c:val>
        </c:ser>
        <c:ser>
          <c:idx val="2"/>
          <c:order val="2"/>
          <c:tx>
            <c:strRef>
              <c:f>Sheet1!$D$1</c:f>
              <c:strCache>
                <c:ptCount val="1"/>
                <c:pt idx="0">
                  <c:v>Improved</c:v>
                </c:pt>
              </c:strCache>
            </c:strRef>
          </c:tx>
          <c:spPr>
            <a:solidFill>
              <a:srgbClr val="E8A838"/>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Sheet1!$A$2:$A$3</c:f>
              <c:multiLvlStrCache>
                <c:ptCount val="2"/>
                <c:lvl>
                  <c:pt idx="0">
                    <c:v>Urban</c:v>
                  </c:pt>
                  <c:pt idx="1">
                    <c:v>Rural</c:v>
                  </c:pt>
                </c:lvl>
              </c:multiLvlStrCache>
            </c:multiLvlStrRef>
          </c:cat>
          <c:val>
            <c:numRef>
              <c:f>Sheet1!$D$2:$D$3</c:f>
              <c:numCache>
                <c:formatCode>General</c:formatCode>
                <c:ptCount val="2"/>
                <c:pt idx="0">
                  <c:v>22.7</c:v>
                </c:pt>
                <c:pt idx="1">
                  <c:v>19.3</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Weighted F1</c:v>
                </c:pt>
              </c:strCache>
            </c:strRef>
          </c:tx>
          <c:spPr>
            <a:solidFill>
              <a:srgbClr val="CADCFC"/>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CADCFC"/>
              </a:solidFill>
              <a:effectLst/>
            </c:spPr>
          </c:dPt>
          <c:dPt>
            <c:idx val="1"/>
            <c:invertIfNegative val="0"/>
            <c:bubble3D val="0"/>
            <c:spPr>
              <a:solidFill>
                <a:srgbClr val="CADCFC"/>
              </a:solidFill>
              <a:effectLst/>
            </c:spPr>
          </c:dPt>
          <c:dPt>
            <c:idx val="2"/>
            <c:invertIfNegative val="0"/>
            <c:bubble3D val="0"/>
            <c:spPr>
              <a:solidFill>
                <a:srgbClr val="CADCFC"/>
              </a:solidFill>
              <a:effectLst/>
            </c:spPr>
          </c:dPt>
          <c:dPt>
            <c:idx val="3"/>
            <c:invertIfNegative val="0"/>
            <c:bubble3D val="0"/>
            <c:spPr>
              <a:solidFill>
                <a:srgbClr val="CADCFC"/>
              </a:solidFill>
              <a:effectLst/>
            </c:spPr>
          </c:dPt>
          <c:dPt>
            <c:idx val="4"/>
            <c:invertIfNegative val="0"/>
            <c:bubble3D val="0"/>
            <c:spPr>
              <a:solidFill>
                <a:srgbClr val="CADCFC"/>
              </a:solidFill>
              <a:effectLst/>
            </c:spPr>
          </c:dPt>
          <c:dPt>
            <c:idx val="5"/>
            <c:invertIfNegative val="0"/>
            <c:bubble3D val="0"/>
            <c:spPr>
              <a:solidFill>
                <a:srgbClr val="CADCFC"/>
              </a:solidFill>
              <a:effectLst/>
            </c:spPr>
          </c:dPt>
          <c:dPt>
            <c:idx val="6"/>
            <c:invertIfNegative val="0"/>
            <c:bubble3D val="0"/>
            <c:spPr>
              <a:solidFill>
                <a:srgbClr val="E8A838"/>
              </a:solidFill>
              <a:effectLst/>
            </c:spPr>
          </c:dPt>
          <c:cat>
            <c:multiLvlStrRef>
              <c:f>Sheet1!$A$2:$A$8</c:f>
              <c:multiLvlStrCache>
                <c:ptCount val="7"/>
                <c:lvl>
                  <c:pt idx="0">
                    <c:v>Decision Tree (default)</c:v>
                  </c:pt>
                  <c:pt idx="1">
                    <c:v>Decision Tree (depth=5)</c:v>
                  </c:pt>
                  <c:pt idx="2">
                    <c:v>Logistic Regression</c:v>
                  </c:pt>
                  <c:pt idx="3">
                    <c:v>Random Forest + SMOTE</c:v>
                  </c:pt>
                  <c:pt idx="4">
                    <c:v>Random Forest</c:v>
                  </c:pt>
                  <c:pt idx="5">
                    <c:v>XGBoost (default)</c:v>
                  </c:pt>
                  <c:pt idx="6">
                    <c:v>Tuned XGBoost ✓</c:v>
                  </c:pt>
                </c:lvl>
              </c:multiLvlStrCache>
            </c:multiLvlStrRef>
          </c:cat>
          <c:val>
            <c:numRef>
              <c:f>Sheet1!$B$2:$B$8</c:f>
              <c:numCache>
                <c:formatCode>General</c:formatCode>
                <c:ptCount val="7"/>
                <c:pt idx="0">
                  <c:v>0.4313</c:v>
                </c:pt>
                <c:pt idx="1">
                  <c:v>0.4888</c:v>
                </c:pt>
                <c:pt idx="2">
                  <c:v>0.4939</c:v>
                </c:pt>
                <c:pt idx="3">
                  <c:v>0.5036</c:v>
                </c:pt>
                <c:pt idx="4">
                  <c:v>0.505</c:v>
                </c:pt>
                <c:pt idx="5">
                  <c:v>0.5179</c:v>
                </c:pt>
                <c:pt idx="6">
                  <c:v>0.5231</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6350" cap="flat">
              <a:solidFill>
                <a:srgbClr val="2A3A7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2761"/>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Recall %</c:v>
                </c:pt>
              </c:strCache>
            </c:strRef>
          </c:tx>
          <c:spPr>
            <a:solidFill>
              <a:srgbClr val="4A6FA5"/>
            </a:solidFill>
            <a:effectLst/>
          </c:spPr>
          <c:invertIfNegative val="0"/>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4A6FA5"/>
              </a:solidFill>
              <a:effectLst/>
            </c:spPr>
          </c:dPt>
          <c:dPt>
            <c:idx val="1"/>
            <c:invertIfNegative val="0"/>
            <c:bubble3D val="0"/>
            <c:spPr>
              <a:solidFill>
                <a:srgbClr val="CADCFC"/>
              </a:solidFill>
              <a:effectLst/>
            </c:spPr>
          </c:dPt>
          <c:dPt>
            <c:idx val="2"/>
            <c:invertIfNegative val="0"/>
            <c:bubble3D val="0"/>
            <c:spPr>
              <a:solidFill>
                <a:srgbClr val="E8A838"/>
              </a:solidFill>
              <a:effectLst/>
            </c:spPr>
          </c:dPt>
          <c:cat>
            <c:multiLvlStrRef>
              <c:f>Sheet1!$A$2:$A$4</c:f>
              <c:multiLvlStrCache>
                <c:ptCount val="3"/>
                <c:lvl>
                  <c:pt idx="0">
                    <c:v>Worsened (0)</c:v>
                  </c:pt>
                  <c:pt idx="1">
                    <c:v>Stayed the same (1)</c:v>
                  </c:pt>
                  <c:pt idx="2">
                    <c:v>Improved (2)</c:v>
                  </c:pt>
                </c:lvl>
              </c:multiLvlStrCache>
            </c:multiLvlStrRef>
          </c:cat>
          <c:val>
            <c:numRef>
              <c:f>Sheet1!$B$2:$B$4</c:f>
              <c:numCache>
                <c:formatCode>General</c:formatCode>
                <c:ptCount val="3"/>
                <c:pt idx="0">
                  <c:v>84</c:v>
                </c:pt>
                <c:pt idx="1">
                  <c:v>24</c:v>
                </c:pt>
                <c:pt idx="2">
                  <c:v>27</c:v>
                </c:pt>
              </c:numCache>
            </c:numRef>
          </c:val>
        </c:ser>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52.6% number — let it land before you speak. Then say: 'Behind every data point is a real person. A smallholder farmer who could not repay a loan after a drought. A young woman in Turkana who cannot open a bank account because she has no national ID. So our question was simple — who is most at risk, and why? We built a machine learning model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answer our question we used the 2024 FinAccess Household Survey — the most comprehensive survey of financial inclusion in Kenya, published by the Central Bank of Kenya in December 2024. It covers 20,871 individuals across all 47 counties. Each person answered questions across five categories. Our target variable was financial status — did their situation Improve, Stay the same, or Worsen? That is what we trained our model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Katie presents this slide. Finding 1: 'Most people assume rural Kenya is much worse off financially. But the gap is only 3 percentage points. This is not a rural crisis — it is a national one.' Finding 2: 'Financial literacy had almost zero correlation with financial outcomes — just 0.02. Knowing about finance without access to products or stable income does not protect you. That has direct implications for how policymakers should be spending their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present this slide. Say: 'We took a systematic approach — we did not just pick one model and hope for the best. We tested five different approaches starting simple and building up in complexity. We started with a Decision Tree as our baseline, then tried Logistic Regression, Random Forest, SMOTE resampling, and finally XGBoost — which builds trees sequentially, each one learning from the mistakes of the previous one. Throughout we used Weighted F1 rather than accuracy because accuracy would be misleading on imbalanced data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present this slide. Say: 'Our final Tuned XGBoost model achieved a Weighted F1 of 0.52. The model is particularly strong at identifying financial deterioration — it correctly predicts Worsened 84% of the time. That is actually the most policy relevant outcome — correctly flagging who is at risk. Where it struggles is distinguishing between Stayed same and Improved. We think that is a data limitation rather than a modelling one — the survey does not capture the factors that push someone from stable to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of you present one theme each. You introduce: 'The feature importances chart shows which variables the model relied on most. Three clear themes emerged.' Then each person takes one theme. Katie takes Theme 3: 'Consistent with our EDA finding — financial literacy score barely appears. Education without access, and structural factors like food insecurity and debt stress, are the real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Katie presents this slide. Close with: 'Our model points to three clear priorities. First — build financial buffers. Emergency fund access was our strongest predictor. Second — remove barriers to digital access. Mobile money is protective and the barriers are solvable. And third — stop investing in literacy alone. Our data shows literacy without product access delivers near zero impact. Every programme should come bundled with tangible access.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4114800" cy="2011680"/>
          </a:xfrm>
          <a:prstGeom prst="rect">
            <a:avLst/>
          </a:prstGeom>
          <a:noFill/>
          <a:ln/>
        </p:spPr>
        <p:txBody>
          <a:bodyPr wrap="square" lIns="0" tIns="0" rIns="0" bIns="0" rtlCol="0" anchor="ctr"/>
          <a:lstStyle/>
          <a:p>
            <a:pPr algn="ctr" indent="0" marL="0">
              <a:buNone/>
            </a:pPr>
            <a:r>
              <a:rPr lang="en-US" sz="9600" b="1" dirty="0">
                <a:solidFill>
                  <a:srgbClr val="E8A838"/>
                </a:solidFill>
              </a:rPr>
              <a:t>52.6%</a:t>
            </a:r>
            <a:endParaRPr lang="en-US" sz="9600" dirty="0"/>
          </a:p>
        </p:txBody>
      </p:sp>
      <p:sp>
        <p:nvSpPr>
          <p:cNvPr id="3" name="Text 1"/>
          <p:cNvSpPr/>
          <p:nvPr/>
        </p:nvSpPr>
        <p:spPr>
          <a:xfrm>
            <a:off x="457200" y="2377440"/>
            <a:ext cx="4114800" cy="914400"/>
          </a:xfrm>
          <a:prstGeom prst="rect">
            <a:avLst/>
          </a:prstGeom>
          <a:noFill/>
          <a:ln/>
        </p:spPr>
        <p:txBody>
          <a:bodyPr wrap="square" lIns="0" tIns="0" rIns="0" bIns="0" rtlCol="0" anchor="t"/>
          <a:lstStyle/>
          <a:p>
            <a:pPr algn="ctr" indent="0" marL="0">
              <a:buNone/>
            </a:pPr>
            <a:r>
              <a:rPr lang="en-US" sz="1800" dirty="0">
                <a:solidFill>
                  <a:srgbClr val="CADCFC"/>
                </a:solidFill>
              </a:rPr>
              <a:t>of Kenyan adults said their</a:t>
            </a:r>
            <a:endParaRPr lang="en-US" sz="1800" dirty="0"/>
          </a:p>
          <a:p>
            <a:pPr algn="ctr" indent="0" marL="0">
              <a:buNone/>
            </a:pPr>
            <a:r>
              <a:rPr lang="en-US" sz="1800" dirty="0">
                <a:solidFill>
                  <a:srgbClr val="CADCFC"/>
                </a:solidFill>
              </a:rPr>
              <a:t>finances got worse in 2024</a:t>
            </a:r>
            <a:endParaRPr lang="en-US" sz="1800" dirty="0"/>
          </a:p>
        </p:txBody>
      </p:sp>
      <p:sp>
        <p:nvSpPr>
          <p:cNvPr id="4" name="Text 2"/>
          <p:cNvSpPr/>
          <p:nvPr/>
        </p:nvSpPr>
        <p:spPr>
          <a:xfrm>
            <a:off x="4846320" y="457200"/>
            <a:ext cx="4023360" cy="640080"/>
          </a:xfrm>
          <a:prstGeom prst="rect">
            <a:avLst/>
          </a:prstGeom>
          <a:noFill/>
          <a:ln/>
        </p:spPr>
        <p:txBody>
          <a:bodyPr wrap="square" lIns="0" tIns="0" rIns="0" bIns="0" rtlCol="0" anchor="ctr"/>
          <a:lstStyle/>
          <a:p>
            <a:pPr algn="l" indent="0" marL="0">
              <a:buNone/>
            </a:pPr>
            <a:r>
              <a:rPr lang="en-US" sz="2800" b="1" dirty="0">
                <a:solidFill>
                  <a:srgbClr val="FFFFFF"/>
                </a:solidFill>
              </a:rPr>
              <a:t>Who Is Being Left Behind?</a:t>
            </a:r>
            <a:endParaRPr lang="en-US" sz="2800" dirty="0"/>
          </a:p>
        </p:txBody>
      </p:sp>
      <p:sp>
        <p:nvSpPr>
          <p:cNvPr id="5" name="Text 3"/>
          <p:cNvSpPr/>
          <p:nvPr/>
        </p:nvSpPr>
        <p:spPr>
          <a:xfrm>
            <a:off x="4846320" y="1097280"/>
            <a:ext cx="4023360" cy="640080"/>
          </a:xfrm>
          <a:prstGeom prst="rect">
            <a:avLst/>
          </a:prstGeom>
          <a:noFill/>
          <a:ln/>
        </p:spPr>
        <p:txBody>
          <a:bodyPr wrap="square" lIns="0" tIns="0" rIns="0" bIns="0" rtlCol="0" anchor="ctr"/>
          <a:lstStyle/>
          <a:p>
            <a:pPr algn="l" indent="0" marL="0">
              <a:buNone/>
            </a:pPr>
            <a:r>
              <a:rPr lang="en-US" sz="1500" i="1" dirty="0">
                <a:solidFill>
                  <a:srgbClr val="CADCFC"/>
                </a:solidFill>
              </a:rPr>
              <a:t>Predicting Financial Deterioration</a:t>
            </a:r>
            <a:endParaRPr lang="en-US" sz="1500" dirty="0"/>
          </a:p>
          <a:p>
            <a:pPr algn="l" indent="0" marL="0">
              <a:buNone/>
            </a:pPr>
            <a:r>
              <a:rPr lang="en-US" sz="1500" i="1" dirty="0">
                <a:solidFill>
                  <a:srgbClr val="CADCFC"/>
                </a:solidFill>
              </a:rPr>
              <a:t>Among Kenyan Adults</a:t>
            </a:r>
            <a:endParaRPr lang="en-US" sz="1500" dirty="0"/>
          </a:p>
        </p:txBody>
      </p:sp>
      <p:sp>
        <p:nvSpPr>
          <p:cNvPr id="6" name="Text 4"/>
          <p:cNvSpPr/>
          <p:nvPr/>
        </p:nvSpPr>
        <p:spPr>
          <a:xfrm>
            <a:off x="4846320" y="1920240"/>
            <a:ext cx="4023360" cy="14630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FFFFFF"/>
                </a:solidFill>
              </a:rPr>
              <a:t>9.9% of adults remain fully excluded from financial services</a:t>
            </a:r>
            <a:endParaRPr lang="en-US" sz="1300" dirty="0"/>
          </a:p>
          <a:p>
            <a:pPr marL="342900" indent="-342900">
              <a:spcAft>
                <a:spcPts val="800"/>
              </a:spcAft>
              <a:buSzPct val="100000"/>
              <a:buChar char="•"/>
            </a:pPr>
            <a:r>
              <a:rPr lang="en-US" sz="1300" dirty="0">
                <a:solidFill>
                  <a:srgbClr val="FFFFFF"/>
                </a:solidFill>
              </a:rPr>
              <a:t>A smallholder farmer who cannot repay after a drought</a:t>
            </a:r>
            <a:endParaRPr lang="en-US" sz="1300" dirty="0"/>
          </a:p>
          <a:p>
            <a:pPr marL="342900" indent="-342900">
              <a:spcAft>
                <a:spcPts val="800"/>
              </a:spcAft>
              <a:buSzPct val="100000"/>
              <a:buChar char="•"/>
            </a:pPr>
            <a:r>
              <a:rPr lang="en-US" sz="1300" dirty="0">
                <a:solidFill>
                  <a:srgbClr val="FFFFFF"/>
                </a:solidFill>
              </a:rPr>
              <a:t>A woman in Turkana with no ID — and no bank account</a:t>
            </a:r>
            <a:endParaRPr lang="en-US" sz="1300" dirty="0"/>
          </a:p>
        </p:txBody>
      </p:sp>
      <p:sp>
        <p:nvSpPr>
          <p:cNvPr id="7" name="Text 5"/>
          <p:cNvSpPr/>
          <p:nvPr/>
        </p:nvSpPr>
        <p:spPr>
          <a:xfrm>
            <a:off x="4846320" y="3520440"/>
            <a:ext cx="4023360" cy="685800"/>
          </a:xfrm>
          <a:prstGeom prst="rect">
            <a:avLst/>
          </a:prstGeom>
          <a:noFill/>
          <a:ln/>
        </p:spPr>
        <p:txBody>
          <a:bodyPr wrap="square" lIns="0" tIns="0" rIns="0" bIns="0" rtlCol="0" anchor="ctr"/>
          <a:lstStyle/>
          <a:p>
            <a:pPr algn="l" indent="0" marL="0">
              <a:buNone/>
            </a:pPr>
            <a:r>
              <a:rPr lang="en-US" sz="1300" i="1" dirty="0">
                <a:solidFill>
                  <a:srgbClr val="E8A838"/>
                </a:solidFill>
              </a:rPr>
              <a:t>We built a machine learning model to find out who is most at risk — and why.</a:t>
            </a:r>
            <a:endParaRPr lang="en-US" sz="1300" dirty="0"/>
          </a:p>
        </p:txBody>
      </p:sp>
      <p:sp>
        <p:nvSpPr>
          <p:cNvPr id="8" name="Text 6"/>
          <p:cNvSpPr/>
          <p:nvPr/>
        </p:nvSpPr>
        <p:spPr>
          <a:xfrm>
            <a:off x="457200" y="4754880"/>
            <a:ext cx="8229600" cy="274320"/>
          </a:xfrm>
          <a:prstGeom prst="rect">
            <a:avLst/>
          </a:prstGeom>
          <a:noFill/>
          <a:ln/>
        </p:spPr>
        <p:txBody>
          <a:bodyPr wrap="square" lIns="0" tIns="0" rIns="0" bIns="0" rtlCol="0" anchor="ctr"/>
          <a:lstStyle/>
          <a:p>
            <a:pPr algn="l" indent="0" marL="0">
              <a:buNone/>
            </a:pPr>
            <a:r>
              <a:rPr lang="en-US" sz="900" dirty="0">
                <a:solidFill>
                  <a:srgbClr val="64748B"/>
                </a:solidFill>
              </a:rPr>
              <a:t>Source: 2024 FinAccess Household Survey — Central Bank of Kenya, KNBS, FSD Kenya</a:t>
            </a:r>
            <a:endParaRPr lang="en-US" sz="900" dirty="0"/>
          </a:p>
        </p:txBody>
      </p:sp>
      <p:graphicFrame>
        <p:nvGraphicFramePr>
          <p:cNvPr id="9" name="Chart 0" descr=""/>
          <p:cNvGraphicFramePr/>
          <p:nvPr/>
        </p:nvGraphicFramePr>
        <p:xfrm>
          <a:off x="365760" y="3291840"/>
          <a:ext cx="4206240" cy="1691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algn="ctr" indent="0" marL="0">
              <a:buNone/>
            </a:pPr>
            <a:r>
              <a:rPr lang="en-US" sz="2800" b="1" dirty="0">
                <a:solidFill>
                  <a:srgbClr val="1E2761"/>
                </a:solidFill>
              </a:rPr>
              <a:t>20,871 Kenyans.  47 Counties.  28 Variables.</a:t>
            </a:r>
            <a:endParaRPr lang="en-US" sz="2800" dirty="0"/>
          </a:p>
        </p:txBody>
      </p:sp>
      <p:sp>
        <p:nvSpPr>
          <p:cNvPr id="3" name="Shape 1"/>
          <p:cNvSpPr/>
          <p:nvPr/>
        </p:nvSpPr>
        <p:spPr>
          <a:xfrm>
            <a:off x="457200" y="1005840"/>
            <a:ext cx="2560320" cy="1097280"/>
          </a:xfrm>
          <a:prstGeom prst="roundRect">
            <a:avLst>
              <a:gd name="adj" fmla="val 8333"/>
            </a:avLst>
          </a:prstGeom>
          <a:solidFill>
            <a:srgbClr val="1E2761"/>
          </a:solidFill>
          <a:ln/>
          <a:effectLst>
            <a:outerShdw sx="100000" sy="100000" kx="0" ky="0" algn="bl" rotWithShape="0" blurRad="101600" dist="38100" dir="2700000">
              <a:srgbClr val="000000">
                <a:alpha val="15000"/>
              </a:srgbClr>
            </a:outerShdw>
          </a:effectLst>
        </p:spPr>
      </p:sp>
      <p:sp>
        <p:nvSpPr>
          <p:cNvPr id="4" name="Text 2"/>
          <p:cNvSpPr/>
          <p:nvPr/>
        </p:nvSpPr>
        <p:spPr>
          <a:xfrm>
            <a:off x="457200" y="1051560"/>
            <a:ext cx="2560320" cy="640080"/>
          </a:xfrm>
          <a:prstGeom prst="rect">
            <a:avLst/>
          </a:prstGeom>
          <a:noFill/>
          <a:ln/>
        </p:spPr>
        <p:txBody>
          <a:bodyPr wrap="square" lIns="0" tIns="0" rIns="0" bIns="0" rtlCol="0" anchor="ctr"/>
          <a:lstStyle/>
          <a:p>
            <a:pPr algn="ctr" indent="0" marL="0">
              <a:buNone/>
            </a:pPr>
            <a:r>
              <a:rPr lang="en-US" sz="3600" b="1" dirty="0">
                <a:solidFill>
                  <a:srgbClr val="E8A838"/>
                </a:solidFill>
              </a:rPr>
              <a:t>20,871</a:t>
            </a:r>
            <a:endParaRPr lang="en-US" sz="3600" dirty="0"/>
          </a:p>
        </p:txBody>
      </p:sp>
      <p:sp>
        <p:nvSpPr>
          <p:cNvPr id="5" name="Text 3"/>
          <p:cNvSpPr/>
          <p:nvPr/>
        </p:nvSpPr>
        <p:spPr>
          <a:xfrm>
            <a:off x="457200" y="1645920"/>
            <a:ext cx="2560320" cy="365760"/>
          </a:xfrm>
          <a:prstGeom prst="rect">
            <a:avLst/>
          </a:prstGeom>
          <a:noFill/>
          <a:ln/>
        </p:spPr>
        <p:txBody>
          <a:bodyPr wrap="square" lIns="0" tIns="0" rIns="0" bIns="0" rtlCol="0" anchor="ctr"/>
          <a:lstStyle/>
          <a:p>
            <a:pPr algn="ctr" indent="0" marL="0">
              <a:buNone/>
            </a:pPr>
            <a:r>
              <a:rPr lang="en-US" sz="1100" dirty="0">
                <a:solidFill>
                  <a:srgbClr val="CADCFC"/>
                </a:solidFill>
              </a:rPr>
              <a:t>Survey Respondents</a:t>
            </a:r>
            <a:endParaRPr lang="en-US" sz="1100" dirty="0"/>
          </a:p>
        </p:txBody>
      </p:sp>
      <p:sp>
        <p:nvSpPr>
          <p:cNvPr id="6" name="Shape 4"/>
          <p:cNvSpPr/>
          <p:nvPr/>
        </p:nvSpPr>
        <p:spPr>
          <a:xfrm>
            <a:off x="3291840" y="1005840"/>
            <a:ext cx="2560320" cy="1097280"/>
          </a:xfrm>
          <a:prstGeom prst="roundRect">
            <a:avLst>
              <a:gd name="adj" fmla="val 8333"/>
            </a:avLst>
          </a:prstGeom>
          <a:solidFill>
            <a:srgbClr val="1E2761"/>
          </a:solidFill>
          <a:ln/>
          <a:effectLst>
            <a:outerShdw sx="100000" sy="100000" kx="0" ky="0" algn="bl" rotWithShape="0" blurRad="101600" dist="38100" dir="2700000">
              <a:srgbClr val="000000">
                <a:alpha val="15000"/>
              </a:srgbClr>
            </a:outerShdw>
          </a:effectLst>
        </p:spPr>
      </p:sp>
      <p:sp>
        <p:nvSpPr>
          <p:cNvPr id="7" name="Text 5"/>
          <p:cNvSpPr/>
          <p:nvPr/>
        </p:nvSpPr>
        <p:spPr>
          <a:xfrm>
            <a:off x="3291840" y="1051560"/>
            <a:ext cx="2560320" cy="640080"/>
          </a:xfrm>
          <a:prstGeom prst="rect">
            <a:avLst/>
          </a:prstGeom>
          <a:noFill/>
          <a:ln/>
        </p:spPr>
        <p:txBody>
          <a:bodyPr wrap="square" lIns="0" tIns="0" rIns="0" bIns="0" rtlCol="0" anchor="ctr"/>
          <a:lstStyle/>
          <a:p>
            <a:pPr algn="ctr" indent="0" marL="0">
              <a:buNone/>
            </a:pPr>
            <a:r>
              <a:rPr lang="en-US" sz="3600" b="1" dirty="0">
                <a:solidFill>
                  <a:srgbClr val="E8A838"/>
                </a:solidFill>
              </a:rPr>
              <a:t>47</a:t>
            </a:r>
            <a:endParaRPr lang="en-US" sz="3600" dirty="0"/>
          </a:p>
        </p:txBody>
      </p:sp>
      <p:sp>
        <p:nvSpPr>
          <p:cNvPr id="8" name="Text 6"/>
          <p:cNvSpPr/>
          <p:nvPr/>
        </p:nvSpPr>
        <p:spPr>
          <a:xfrm>
            <a:off x="3291840" y="1645920"/>
            <a:ext cx="2560320" cy="365760"/>
          </a:xfrm>
          <a:prstGeom prst="rect">
            <a:avLst/>
          </a:prstGeom>
          <a:noFill/>
          <a:ln/>
        </p:spPr>
        <p:txBody>
          <a:bodyPr wrap="square" lIns="0" tIns="0" rIns="0" bIns="0" rtlCol="0" anchor="ctr"/>
          <a:lstStyle/>
          <a:p>
            <a:pPr algn="ctr" indent="0" marL="0">
              <a:buNone/>
            </a:pPr>
            <a:r>
              <a:rPr lang="en-US" sz="1100" dirty="0">
                <a:solidFill>
                  <a:srgbClr val="CADCFC"/>
                </a:solidFill>
              </a:rPr>
              <a:t>Counties Covered</a:t>
            </a:r>
            <a:endParaRPr lang="en-US" sz="1100" dirty="0"/>
          </a:p>
        </p:txBody>
      </p:sp>
      <p:sp>
        <p:nvSpPr>
          <p:cNvPr id="9" name="Shape 7"/>
          <p:cNvSpPr/>
          <p:nvPr/>
        </p:nvSpPr>
        <p:spPr>
          <a:xfrm>
            <a:off x="6126480" y="1005840"/>
            <a:ext cx="2560320" cy="1097280"/>
          </a:xfrm>
          <a:prstGeom prst="roundRect">
            <a:avLst>
              <a:gd name="adj" fmla="val 8333"/>
            </a:avLst>
          </a:prstGeom>
          <a:solidFill>
            <a:srgbClr val="1E2761"/>
          </a:solidFill>
          <a:ln/>
          <a:effectLst>
            <a:outerShdw sx="100000" sy="100000" kx="0" ky="0" algn="bl" rotWithShape="0" blurRad="101600" dist="38100" dir="2700000">
              <a:srgbClr val="000000">
                <a:alpha val="15000"/>
              </a:srgbClr>
            </a:outerShdw>
          </a:effectLst>
        </p:spPr>
      </p:sp>
      <p:sp>
        <p:nvSpPr>
          <p:cNvPr id="10" name="Text 8"/>
          <p:cNvSpPr/>
          <p:nvPr/>
        </p:nvSpPr>
        <p:spPr>
          <a:xfrm>
            <a:off x="6126480" y="1051560"/>
            <a:ext cx="2560320" cy="640080"/>
          </a:xfrm>
          <a:prstGeom prst="rect">
            <a:avLst/>
          </a:prstGeom>
          <a:noFill/>
          <a:ln/>
        </p:spPr>
        <p:txBody>
          <a:bodyPr wrap="square" lIns="0" tIns="0" rIns="0" bIns="0" rtlCol="0" anchor="ctr"/>
          <a:lstStyle/>
          <a:p>
            <a:pPr algn="ctr" indent="0" marL="0">
              <a:buNone/>
            </a:pPr>
            <a:r>
              <a:rPr lang="en-US" sz="3600" b="1" dirty="0">
                <a:solidFill>
                  <a:srgbClr val="E8A838"/>
                </a:solidFill>
              </a:rPr>
              <a:t>28</a:t>
            </a:r>
            <a:endParaRPr lang="en-US" sz="3600" dirty="0"/>
          </a:p>
        </p:txBody>
      </p:sp>
      <p:sp>
        <p:nvSpPr>
          <p:cNvPr id="11" name="Text 9"/>
          <p:cNvSpPr/>
          <p:nvPr/>
        </p:nvSpPr>
        <p:spPr>
          <a:xfrm>
            <a:off x="6126480" y="1645920"/>
            <a:ext cx="2560320" cy="365760"/>
          </a:xfrm>
          <a:prstGeom prst="rect">
            <a:avLst/>
          </a:prstGeom>
          <a:noFill/>
          <a:ln/>
        </p:spPr>
        <p:txBody>
          <a:bodyPr wrap="square" lIns="0" tIns="0" rIns="0" bIns="0" rtlCol="0" anchor="ctr"/>
          <a:lstStyle/>
          <a:p>
            <a:pPr algn="ctr" indent="0" marL="0">
              <a:buNone/>
            </a:pPr>
            <a:r>
              <a:rPr lang="en-US" sz="1100" dirty="0">
                <a:solidFill>
                  <a:srgbClr val="CADCFC"/>
                </a:solidFill>
              </a:rPr>
              <a:t>Features Analysed</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2606040"/>
        </p:xfrm>
        <a:graphic>
          <a:graphicData uri="http://schemas.openxmlformats.org/drawingml/2006/table">
            <a:tbl>
              <a:tblPr/>
              <a:tblGrid>
                <a:gridCol w="2560320"/>
                <a:gridCol w="5669280"/>
              </a:tblGrid>
              <a:tr h="402336">
                <a:tc>
                  <a:txBody>
                    <a:bodyPr/>
                    <a:lstStyle/>
                    <a:p>
                      <a:pPr algn="l" indent="0" marL="0">
                        <a:buNone/>
                      </a:pPr>
                      <a:r>
                        <a:rPr lang="en-US" sz="1200" b="1" dirty="0">
                          <a:solidFill>
                            <a:srgbClr val="FFFFFF"/>
                          </a:solidFill>
                        </a:rPr>
                        <a:t>Category</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rPr>
                        <a:t>Example Features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02336">
                <a:tc>
                  <a:txBody>
                    <a:bodyPr/>
                    <a:lstStyle/>
                    <a:p>
                      <a:pPr algn="l" indent="0" marL="0">
                        <a:buNone/>
                      </a:pPr>
                      <a:r>
                        <a:rPr lang="en-US" sz="1200" dirty="0">
                          <a:solidFill>
                            <a:srgbClr val="1A1A2E"/>
                          </a:solidFill>
                        </a:rPr>
                        <a:t>Demographics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rPr>
                        <a:t>Age, Sex, Education Level, Disability Status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1A2E"/>
                          </a:solidFill>
                        </a:rPr>
                        <a:t>Livelihood &amp; Income</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rPr>
                        <a:t>Monthly Income, Experienced Financial Shock</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1A2E"/>
                          </a:solidFill>
                        </a:rPr>
                        <a:t>Mobile &amp; Digital</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rPr>
                        <a:t>Mobile Ownership, Mobile Money Access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1A2E"/>
                          </a:solidFill>
                        </a:rPr>
                        <a:t>Financial Behaviour</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rPr>
                        <a:t>Savings, Loans, Defaults, Formal Service Use</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1A2E"/>
                          </a:solidFill>
                        </a:rPr>
                        <a:t>Financial Health</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rPr>
                        <a:t>Food Security, Debt Stress, Emergency Fund Access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4846320"/>
            <a:ext cx="8229600" cy="228600"/>
          </a:xfrm>
          <a:prstGeom prst="rect">
            <a:avLst/>
          </a:prstGeom>
          <a:noFill/>
          <a:ln/>
        </p:spPr>
        <p:txBody>
          <a:bodyPr wrap="square" lIns="0" tIns="0" rIns="0" bIns="0" rtlCol="0" anchor="ctr"/>
          <a:lstStyle/>
          <a:p>
            <a:pPr algn="l" indent="0" marL="0">
              <a:buNone/>
            </a:pPr>
            <a:r>
              <a:rPr lang="en-US" sz="900" dirty="0">
                <a:solidFill>
                  <a:srgbClr val="64748B"/>
                </a:solidFill>
              </a:rPr>
              <a:t>Source: 2024 FinAccess Household Survey — Central Bank of Kenya, KNBS, FSD Kenya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algn="ctr" indent="0" marL="0">
              <a:buNone/>
            </a:pPr>
            <a:r>
              <a:rPr lang="en-US" sz="2600" b="1" dirty="0">
                <a:solidFill>
                  <a:srgbClr val="1E2761"/>
                </a:solidFill>
              </a:rPr>
              <a:t>Two Findings That Challenge Conventional Wisdom</a:t>
            </a:r>
            <a:endParaRPr lang="en-US" sz="2600" dirty="0"/>
          </a:p>
        </p:txBody>
      </p:sp>
      <p:sp>
        <p:nvSpPr>
          <p:cNvPr id="3" name="Shape 1"/>
          <p:cNvSpPr/>
          <p:nvPr/>
        </p:nvSpPr>
        <p:spPr>
          <a:xfrm>
            <a:off x="365760" y="960120"/>
            <a:ext cx="4023360" cy="3931920"/>
          </a:xfrm>
          <a:prstGeom prst="roundRect">
            <a:avLst>
              <a:gd name="adj" fmla="val 2791"/>
            </a:avLst>
          </a:prstGeom>
          <a:solidFill>
            <a:srgbClr val="FFFFFF"/>
          </a:solidFill>
          <a:ln/>
          <a:effectLst>
            <a:outerShdw sx="100000" sy="100000" kx="0" ky="0" algn="bl" rotWithShape="0" blurRad="101600" dist="25400" dir="2700000">
              <a:srgbClr val="000000">
                <a:alpha val="10000"/>
              </a:srgbClr>
            </a:outerShdw>
          </a:effectLst>
        </p:spPr>
      </p:sp>
      <p:sp>
        <p:nvSpPr>
          <p:cNvPr id="4" name="Text 2"/>
          <p:cNvSpPr/>
          <p:nvPr/>
        </p:nvSpPr>
        <p:spPr>
          <a:xfrm>
            <a:off x="457200" y="1051560"/>
            <a:ext cx="640080" cy="457200"/>
          </a:xfrm>
          <a:prstGeom prst="rect">
            <a:avLst/>
          </a:prstGeom>
          <a:noFill/>
          <a:ln/>
        </p:spPr>
        <p:txBody>
          <a:bodyPr wrap="square" lIns="0" tIns="0" rIns="0" bIns="0" rtlCol="0" anchor="ctr"/>
          <a:lstStyle/>
          <a:p>
            <a:pPr indent="0" marL="0">
              <a:buNone/>
            </a:pPr>
            <a:r>
              <a:rPr lang="en-US" sz="2200" b="1" dirty="0">
                <a:solidFill>
                  <a:srgbClr val="E8A838"/>
                </a:solidFill>
              </a:rPr>
              <a:t>01</a:t>
            </a:r>
            <a:endParaRPr lang="en-US" sz="2200" dirty="0"/>
          </a:p>
        </p:txBody>
      </p:sp>
      <p:sp>
        <p:nvSpPr>
          <p:cNvPr id="5" name="Text 3"/>
          <p:cNvSpPr/>
          <p:nvPr/>
        </p:nvSpPr>
        <p:spPr>
          <a:xfrm>
            <a:off x="1097280" y="1051560"/>
            <a:ext cx="3200400" cy="685800"/>
          </a:xfrm>
          <a:prstGeom prst="rect">
            <a:avLst/>
          </a:prstGeom>
          <a:noFill/>
          <a:ln/>
        </p:spPr>
        <p:txBody>
          <a:bodyPr wrap="square" lIns="0" tIns="0" rIns="0" bIns="0" rtlCol="0" anchor="ctr"/>
          <a:lstStyle/>
          <a:p>
            <a:pPr algn="l" indent="0" marL="0">
              <a:buNone/>
            </a:pPr>
            <a:r>
              <a:rPr lang="en-US" sz="1500" b="1" dirty="0">
                <a:solidFill>
                  <a:srgbClr val="1E2761"/>
                </a:solidFill>
              </a:rPr>
              <a:t>This is not a rural problem.</a:t>
            </a:r>
            <a:endParaRPr lang="en-US" sz="1500" dirty="0"/>
          </a:p>
          <a:p>
            <a:pPr algn="l" indent="0" marL="0">
              <a:buNone/>
            </a:pPr>
            <a:r>
              <a:rPr lang="en-US" sz="1500" b="1" dirty="0">
                <a:solidFill>
                  <a:srgbClr val="1E2761"/>
                </a:solidFill>
              </a:rPr>
              <a:t>It is a national one.</a:t>
            </a:r>
            <a:endParaRPr lang="en-US" sz="1500" dirty="0"/>
          </a:p>
        </p:txBody>
      </p:sp>
      <p:graphicFrame>
        <p:nvGraphicFramePr>
          <p:cNvPr id="6" name="Chart 0" descr=""/>
          <p:cNvGraphicFramePr/>
          <p:nvPr/>
        </p:nvGraphicFramePr>
        <p:xfrm>
          <a:off x="457200" y="1828800"/>
          <a:ext cx="3749040" cy="2286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160520"/>
            <a:ext cx="3749040" cy="320040"/>
          </a:xfrm>
          <a:prstGeom prst="rect">
            <a:avLst/>
          </a:prstGeom>
          <a:noFill/>
          <a:ln/>
        </p:spPr>
        <p:txBody>
          <a:bodyPr wrap="square" lIns="0" tIns="0" rIns="0" bIns="0" rtlCol="0" anchor="ctr"/>
          <a:lstStyle/>
          <a:p>
            <a:pPr algn="ctr" indent="0" marL="0">
              <a:buNone/>
            </a:pPr>
            <a:r>
              <a:rPr lang="en-US" sz="1000" i="1" dirty="0">
                <a:solidFill>
                  <a:srgbClr val="64748B"/>
                </a:solidFill>
              </a:rPr>
              <a:t>Gap: only 3 percentage points</a:t>
            </a:r>
            <a:endParaRPr lang="en-US" sz="1000" dirty="0"/>
          </a:p>
        </p:txBody>
      </p:sp>
      <p:sp>
        <p:nvSpPr>
          <p:cNvPr id="8" name="Shape 5"/>
          <p:cNvSpPr/>
          <p:nvPr/>
        </p:nvSpPr>
        <p:spPr>
          <a:xfrm>
            <a:off x="4663440" y="960120"/>
            <a:ext cx="4023360" cy="3931920"/>
          </a:xfrm>
          <a:prstGeom prst="roundRect">
            <a:avLst>
              <a:gd name="adj" fmla="val 2791"/>
            </a:avLst>
          </a:prstGeom>
          <a:solidFill>
            <a:srgbClr val="FFFFFF"/>
          </a:solidFill>
          <a:ln/>
          <a:effectLst>
            <a:outerShdw sx="100000" sy="100000" kx="0" ky="0" algn="bl" rotWithShape="0" blurRad="101600" dist="25400" dir="2700000">
              <a:srgbClr val="000000">
                <a:alpha val="10000"/>
              </a:srgbClr>
            </a:outerShdw>
          </a:effectLst>
        </p:spPr>
      </p:sp>
      <p:sp>
        <p:nvSpPr>
          <p:cNvPr id="9" name="Text 6"/>
          <p:cNvSpPr/>
          <p:nvPr/>
        </p:nvSpPr>
        <p:spPr>
          <a:xfrm>
            <a:off x="4754880" y="1051560"/>
            <a:ext cx="640080" cy="457200"/>
          </a:xfrm>
          <a:prstGeom prst="rect">
            <a:avLst/>
          </a:prstGeom>
          <a:noFill/>
          <a:ln/>
        </p:spPr>
        <p:txBody>
          <a:bodyPr wrap="square" lIns="0" tIns="0" rIns="0" bIns="0" rtlCol="0" anchor="ctr"/>
          <a:lstStyle/>
          <a:p>
            <a:pPr indent="0" marL="0">
              <a:buNone/>
            </a:pPr>
            <a:r>
              <a:rPr lang="en-US" sz="2200" b="1" dirty="0">
                <a:solidFill>
                  <a:srgbClr val="E8A838"/>
                </a:solidFill>
              </a:rPr>
              <a:t>02</a:t>
            </a:r>
            <a:endParaRPr lang="en-US" sz="2200" dirty="0"/>
          </a:p>
        </p:txBody>
      </p:sp>
      <p:sp>
        <p:nvSpPr>
          <p:cNvPr id="10" name="Text 7"/>
          <p:cNvSpPr/>
          <p:nvPr/>
        </p:nvSpPr>
        <p:spPr>
          <a:xfrm>
            <a:off x="5394960" y="1051560"/>
            <a:ext cx="3200400" cy="685800"/>
          </a:xfrm>
          <a:prstGeom prst="rect">
            <a:avLst/>
          </a:prstGeom>
          <a:noFill/>
          <a:ln/>
        </p:spPr>
        <p:txBody>
          <a:bodyPr wrap="square" lIns="0" tIns="0" rIns="0" bIns="0" rtlCol="0" anchor="ctr"/>
          <a:lstStyle/>
          <a:p>
            <a:pPr algn="l" indent="0" marL="0">
              <a:buNone/>
            </a:pPr>
            <a:r>
              <a:rPr lang="en-US" sz="1500" b="1" dirty="0">
                <a:solidFill>
                  <a:srgbClr val="1E2761"/>
                </a:solidFill>
              </a:rPr>
              <a:t>Financial literacy alone</a:t>
            </a:r>
            <a:endParaRPr lang="en-US" sz="1500" dirty="0"/>
          </a:p>
          <a:p>
            <a:pPr algn="l" indent="0" marL="0">
              <a:buNone/>
            </a:pPr>
            <a:r>
              <a:rPr lang="en-US" sz="1500" b="1" dirty="0">
                <a:solidFill>
                  <a:srgbClr val="1E2761"/>
                </a:solidFill>
              </a:rPr>
              <a:t>does not protect you.</a:t>
            </a:r>
            <a:endParaRPr lang="en-US" sz="1500" dirty="0"/>
          </a:p>
        </p:txBody>
      </p:sp>
      <p:sp>
        <p:nvSpPr>
          <p:cNvPr id="11" name="Shape 8"/>
          <p:cNvSpPr/>
          <p:nvPr/>
        </p:nvSpPr>
        <p:spPr>
          <a:xfrm>
            <a:off x="4937760" y="1874520"/>
            <a:ext cx="3474720" cy="1371600"/>
          </a:xfrm>
          <a:prstGeom prst="roundRect">
            <a:avLst>
              <a:gd name="adj" fmla="val 6667"/>
            </a:avLst>
          </a:prstGeom>
          <a:solidFill>
            <a:srgbClr val="1E2761"/>
          </a:solidFill>
          <a:ln/>
        </p:spPr>
      </p:sp>
      <p:sp>
        <p:nvSpPr>
          <p:cNvPr id="12" name="Text 9"/>
          <p:cNvSpPr/>
          <p:nvPr/>
        </p:nvSpPr>
        <p:spPr>
          <a:xfrm>
            <a:off x="4937760" y="1920240"/>
            <a:ext cx="3474720" cy="777240"/>
          </a:xfrm>
          <a:prstGeom prst="rect">
            <a:avLst/>
          </a:prstGeom>
          <a:noFill/>
          <a:ln/>
        </p:spPr>
        <p:txBody>
          <a:bodyPr wrap="square" lIns="0" tIns="0" rIns="0" bIns="0" rtlCol="0" anchor="ctr"/>
          <a:lstStyle/>
          <a:p>
            <a:pPr algn="ctr" indent="0" marL="0">
              <a:buNone/>
            </a:pPr>
            <a:r>
              <a:rPr lang="en-US" sz="5200" b="1" dirty="0">
                <a:solidFill>
                  <a:srgbClr val="E8A838"/>
                </a:solidFill>
              </a:rPr>
              <a:t>r = 0.02</a:t>
            </a:r>
            <a:endParaRPr lang="en-US" sz="5200" dirty="0"/>
          </a:p>
        </p:txBody>
      </p:sp>
      <p:sp>
        <p:nvSpPr>
          <p:cNvPr id="13" name="Text 10"/>
          <p:cNvSpPr/>
          <p:nvPr/>
        </p:nvSpPr>
        <p:spPr>
          <a:xfrm>
            <a:off x="4937760" y="2651760"/>
            <a:ext cx="3474720" cy="365760"/>
          </a:xfrm>
          <a:prstGeom prst="rect">
            <a:avLst/>
          </a:prstGeom>
          <a:noFill/>
          <a:ln/>
        </p:spPr>
        <p:txBody>
          <a:bodyPr wrap="square" lIns="0" tIns="0" rIns="0" bIns="0" rtlCol="0" anchor="ctr"/>
          <a:lstStyle/>
          <a:p>
            <a:pPr algn="ctr" indent="0" marL="0">
              <a:buNone/>
            </a:pPr>
            <a:r>
              <a:rPr lang="en-US" sz="1000" dirty="0">
                <a:solidFill>
                  <a:srgbClr val="CADCFC"/>
                </a:solidFill>
              </a:rPr>
              <a:t>fl_score vs financial_status</a:t>
            </a:r>
            <a:endParaRPr lang="en-US" sz="1000" dirty="0"/>
          </a:p>
        </p:txBody>
      </p:sp>
      <p:sp>
        <p:nvSpPr>
          <p:cNvPr id="14" name="Text 11"/>
          <p:cNvSpPr/>
          <p:nvPr/>
        </p:nvSpPr>
        <p:spPr>
          <a:xfrm>
            <a:off x="4754880" y="3337560"/>
            <a:ext cx="3749040" cy="731520"/>
          </a:xfrm>
          <a:prstGeom prst="rect">
            <a:avLst/>
          </a:prstGeom>
          <a:noFill/>
          <a:ln/>
        </p:spPr>
        <p:txBody>
          <a:bodyPr wrap="square" lIns="0" tIns="0" rIns="0" bIns="0" rtlCol="0" anchor="ctr"/>
          <a:lstStyle/>
          <a:p>
            <a:pPr algn="l" indent="0" marL="0">
              <a:buNone/>
            </a:pPr>
            <a:r>
              <a:rPr lang="en-US" sz="1200" dirty="0">
                <a:solidFill>
                  <a:srgbClr val="1A1A2E"/>
                </a:solidFill>
              </a:rPr>
              <a:t>Knowing about finance without access to products or stable income </a:t>
            </a:r>
            <a:pPr algn="l" indent="0" marL="0">
              <a:buNone/>
            </a:pPr>
            <a:r>
              <a:rPr lang="en-US" sz="1200" b="1" dirty="0">
                <a:solidFill>
                  <a:srgbClr val="1A1A2E"/>
                </a:solidFill>
              </a:rPr>
              <a:t>does not move the needle.</a:t>
            </a:r>
            <a:endParaRPr lang="en-US" sz="1200" dirty="0"/>
          </a:p>
        </p:txBody>
      </p:sp>
      <p:sp>
        <p:nvSpPr>
          <p:cNvPr id="15" name="Text 12"/>
          <p:cNvSpPr/>
          <p:nvPr/>
        </p:nvSpPr>
        <p:spPr>
          <a:xfrm>
            <a:off x="4754880" y="4114800"/>
            <a:ext cx="3749040" cy="548640"/>
          </a:xfrm>
          <a:prstGeom prst="rect">
            <a:avLst/>
          </a:prstGeom>
          <a:noFill/>
          <a:ln/>
        </p:spPr>
        <p:txBody>
          <a:bodyPr wrap="square" lIns="0" tIns="0" rIns="0" bIns="0" rtlCol="0" anchor="ctr"/>
          <a:lstStyle/>
          <a:p>
            <a:pPr algn="l" indent="0" marL="0">
              <a:buNone/>
            </a:pPr>
            <a:r>
              <a:rPr lang="en-US" sz="1100" i="1" dirty="0">
                <a:solidFill>
                  <a:srgbClr val="4A6FA5"/>
                </a:solidFill>
              </a:rPr>
              <a:t>Policy implication: literacy programmes without product access are insufficient.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algn="ctr" indent="0" marL="0">
              <a:buNone/>
            </a:pPr>
            <a:r>
              <a:rPr lang="en-US" sz="2600" b="1" dirty="0">
                <a:solidFill>
                  <a:srgbClr val="FFFFFF"/>
                </a:solidFill>
              </a:rPr>
              <a:t>We Tested 5 Models Before Choosing the Best One</a:t>
            </a:r>
            <a:endParaRPr lang="en-US" sz="2600" dirty="0"/>
          </a:p>
        </p:txBody>
      </p:sp>
      <p:graphicFrame>
        <p:nvGraphicFramePr>
          <p:cNvPr id="3" name="Chart 0" descr=""/>
          <p:cNvGraphicFramePr/>
          <p:nvPr/>
        </p:nvGraphicFramePr>
        <p:xfrm>
          <a:off x="365760" y="1005840"/>
          <a:ext cx="5303520" cy="38404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943600" y="1097280"/>
            <a:ext cx="2926080" cy="749808"/>
          </a:xfrm>
          <a:prstGeom prst="roundRect">
            <a:avLst>
              <a:gd name="adj" fmla="val 9756"/>
            </a:avLst>
          </a:prstGeom>
          <a:solidFill>
            <a:srgbClr val="243070"/>
          </a:solidFill>
          <a:ln/>
        </p:spPr>
      </p:sp>
      <p:sp>
        <p:nvSpPr>
          <p:cNvPr id="5" name="Text 2"/>
          <p:cNvSpPr/>
          <p:nvPr/>
        </p:nvSpPr>
        <p:spPr>
          <a:xfrm>
            <a:off x="6080760" y="1133856"/>
            <a:ext cx="2743200" cy="256032"/>
          </a:xfrm>
          <a:prstGeom prst="rect">
            <a:avLst/>
          </a:prstGeom>
          <a:noFill/>
          <a:ln/>
        </p:spPr>
        <p:txBody>
          <a:bodyPr wrap="square" lIns="0" tIns="0" rIns="0" bIns="0" rtlCol="0" anchor="ctr"/>
          <a:lstStyle/>
          <a:p>
            <a:pPr indent="0" marL="0">
              <a:buNone/>
            </a:pPr>
            <a:r>
              <a:rPr lang="en-US" sz="1000" b="1" dirty="0">
                <a:solidFill>
                  <a:srgbClr val="E8A838"/>
                </a:solidFill>
              </a:rPr>
              <a:t>Problem type</a:t>
            </a:r>
            <a:endParaRPr lang="en-US" sz="1000" dirty="0"/>
          </a:p>
        </p:txBody>
      </p:sp>
      <p:sp>
        <p:nvSpPr>
          <p:cNvPr id="6" name="Text 3"/>
          <p:cNvSpPr/>
          <p:nvPr/>
        </p:nvSpPr>
        <p:spPr>
          <a:xfrm>
            <a:off x="6080760" y="1371600"/>
            <a:ext cx="2743200" cy="320040"/>
          </a:xfrm>
          <a:prstGeom prst="rect">
            <a:avLst/>
          </a:prstGeom>
          <a:noFill/>
          <a:ln/>
        </p:spPr>
        <p:txBody>
          <a:bodyPr wrap="square" lIns="0" tIns="0" rIns="0" bIns="0" rtlCol="0" anchor="ctr"/>
          <a:lstStyle/>
          <a:p>
            <a:pPr indent="0" marL="0">
              <a:buNone/>
            </a:pPr>
            <a:r>
              <a:rPr lang="en-US" sz="1100" dirty="0">
                <a:solidFill>
                  <a:srgbClr val="FFFFFF"/>
                </a:solidFill>
              </a:rPr>
              <a:t>Multiclass classification (3 categories)</a:t>
            </a:r>
            <a:endParaRPr lang="en-US" sz="1100" dirty="0"/>
          </a:p>
        </p:txBody>
      </p:sp>
      <p:sp>
        <p:nvSpPr>
          <p:cNvPr id="7" name="Shape 4"/>
          <p:cNvSpPr/>
          <p:nvPr/>
        </p:nvSpPr>
        <p:spPr>
          <a:xfrm>
            <a:off x="5943600" y="2011680"/>
            <a:ext cx="2926080" cy="749808"/>
          </a:xfrm>
          <a:prstGeom prst="roundRect">
            <a:avLst>
              <a:gd name="adj" fmla="val 9756"/>
            </a:avLst>
          </a:prstGeom>
          <a:solidFill>
            <a:srgbClr val="243070"/>
          </a:solidFill>
          <a:ln/>
        </p:spPr>
      </p:sp>
      <p:sp>
        <p:nvSpPr>
          <p:cNvPr id="8" name="Text 5"/>
          <p:cNvSpPr/>
          <p:nvPr/>
        </p:nvSpPr>
        <p:spPr>
          <a:xfrm>
            <a:off x="6080760" y="2048256"/>
            <a:ext cx="2743200" cy="256032"/>
          </a:xfrm>
          <a:prstGeom prst="rect">
            <a:avLst/>
          </a:prstGeom>
          <a:noFill/>
          <a:ln/>
        </p:spPr>
        <p:txBody>
          <a:bodyPr wrap="square" lIns="0" tIns="0" rIns="0" bIns="0" rtlCol="0" anchor="ctr"/>
          <a:lstStyle/>
          <a:p>
            <a:pPr indent="0" marL="0">
              <a:buNone/>
            </a:pPr>
            <a:r>
              <a:rPr lang="en-US" sz="1000" b="1" dirty="0">
                <a:solidFill>
                  <a:srgbClr val="E8A838"/>
                </a:solidFill>
              </a:rPr>
              <a:t>Metric</a:t>
            </a:r>
            <a:endParaRPr lang="en-US" sz="1000" dirty="0"/>
          </a:p>
        </p:txBody>
      </p:sp>
      <p:sp>
        <p:nvSpPr>
          <p:cNvPr id="9" name="Text 6"/>
          <p:cNvSpPr/>
          <p:nvPr/>
        </p:nvSpPr>
        <p:spPr>
          <a:xfrm>
            <a:off x="6080760" y="2286000"/>
            <a:ext cx="2743200" cy="320040"/>
          </a:xfrm>
          <a:prstGeom prst="rect">
            <a:avLst/>
          </a:prstGeom>
          <a:noFill/>
          <a:ln/>
        </p:spPr>
        <p:txBody>
          <a:bodyPr wrap="square" lIns="0" tIns="0" rIns="0" bIns="0" rtlCol="0" anchor="ctr"/>
          <a:lstStyle/>
          <a:p>
            <a:pPr indent="0" marL="0">
              <a:buNone/>
            </a:pPr>
            <a:r>
              <a:rPr lang="en-US" sz="1100" dirty="0">
                <a:solidFill>
                  <a:srgbClr val="FFFFFF"/>
                </a:solidFill>
              </a:rPr>
              <a:t>Weighted F1 — not accuracy (data is imbalanced)</a:t>
            </a:r>
            <a:endParaRPr lang="en-US" sz="1100" dirty="0"/>
          </a:p>
        </p:txBody>
      </p:sp>
      <p:sp>
        <p:nvSpPr>
          <p:cNvPr id="10" name="Shape 7"/>
          <p:cNvSpPr/>
          <p:nvPr/>
        </p:nvSpPr>
        <p:spPr>
          <a:xfrm>
            <a:off x="5943600" y="2926080"/>
            <a:ext cx="2926080" cy="749808"/>
          </a:xfrm>
          <a:prstGeom prst="roundRect">
            <a:avLst>
              <a:gd name="adj" fmla="val 9756"/>
            </a:avLst>
          </a:prstGeom>
          <a:solidFill>
            <a:srgbClr val="243070"/>
          </a:solidFill>
          <a:ln/>
        </p:spPr>
      </p:sp>
      <p:sp>
        <p:nvSpPr>
          <p:cNvPr id="11" name="Text 8"/>
          <p:cNvSpPr/>
          <p:nvPr/>
        </p:nvSpPr>
        <p:spPr>
          <a:xfrm>
            <a:off x="6080760" y="2962656"/>
            <a:ext cx="2743200" cy="256032"/>
          </a:xfrm>
          <a:prstGeom prst="rect">
            <a:avLst/>
          </a:prstGeom>
          <a:noFill/>
          <a:ln/>
        </p:spPr>
        <p:txBody>
          <a:bodyPr wrap="square" lIns="0" tIns="0" rIns="0" bIns="0" rtlCol="0" anchor="ctr"/>
          <a:lstStyle/>
          <a:p>
            <a:pPr indent="0" marL="0">
              <a:buNone/>
            </a:pPr>
            <a:r>
              <a:rPr lang="en-US" sz="1000" b="1" dirty="0">
                <a:solidFill>
                  <a:srgbClr val="E8A838"/>
                </a:solidFill>
              </a:rPr>
              <a:t>Imbalance fix</a:t>
            </a:r>
            <a:endParaRPr lang="en-US" sz="1000" dirty="0"/>
          </a:p>
        </p:txBody>
      </p:sp>
      <p:sp>
        <p:nvSpPr>
          <p:cNvPr id="12" name="Text 9"/>
          <p:cNvSpPr/>
          <p:nvPr/>
        </p:nvSpPr>
        <p:spPr>
          <a:xfrm>
            <a:off x="6080760" y="3200400"/>
            <a:ext cx="2743200" cy="320040"/>
          </a:xfrm>
          <a:prstGeom prst="rect">
            <a:avLst/>
          </a:prstGeom>
          <a:noFill/>
          <a:ln/>
        </p:spPr>
        <p:txBody>
          <a:bodyPr wrap="square" lIns="0" tIns="0" rIns="0" bIns="0" rtlCol="0" anchor="ctr"/>
          <a:lstStyle/>
          <a:p>
            <a:pPr indent="0" marL="0">
              <a:buNone/>
            </a:pPr>
            <a:r>
              <a:rPr lang="en-US" sz="1100" dirty="0">
                <a:solidFill>
                  <a:srgbClr val="FFFFFF"/>
                </a:solidFill>
              </a:rPr>
              <a:t>class_weight='balanced' + SMOTE tested</a:t>
            </a:r>
            <a:endParaRPr lang="en-US" sz="1100" dirty="0"/>
          </a:p>
        </p:txBody>
      </p:sp>
      <p:sp>
        <p:nvSpPr>
          <p:cNvPr id="13" name="Shape 10"/>
          <p:cNvSpPr/>
          <p:nvPr/>
        </p:nvSpPr>
        <p:spPr>
          <a:xfrm>
            <a:off x="5943600" y="3840480"/>
            <a:ext cx="2926080" cy="749808"/>
          </a:xfrm>
          <a:prstGeom prst="roundRect">
            <a:avLst>
              <a:gd name="adj" fmla="val 9756"/>
            </a:avLst>
          </a:prstGeom>
          <a:solidFill>
            <a:srgbClr val="243070"/>
          </a:solidFill>
          <a:ln/>
        </p:spPr>
      </p:sp>
      <p:sp>
        <p:nvSpPr>
          <p:cNvPr id="14" name="Text 11"/>
          <p:cNvSpPr/>
          <p:nvPr/>
        </p:nvSpPr>
        <p:spPr>
          <a:xfrm>
            <a:off x="6080760" y="3877056"/>
            <a:ext cx="2743200" cy="256032"/>
          </a:xfrm>
          <a:prstGeom prst="rect">
            <a:avLst/>
          </a:prstGeom>
          <a:noFill/>
          <a:ln/>
        </p:spPr>
        <p:txBody>
          <a:bodyPr wrap="square" lIns="0" tIns="0" rIns="0" bIns="0" rtlCol="0" anchor="ctr"/>
          <a:lstStyle/>
          <a:p>
            <a:pPr indent="0" marL="0">
              <a:buNone/>
            </a:pPr>
            <a:r>
              <a:rPr lang="en-US" sz="1000" b="1" dirty="0">
                <a:solidFill>
                  <a:srgbClr val="E8A838"/>
                </a:solidFill>
              </a:rPr>
              <a:t>Final model</a:t>
            </a:r>
            <a:endParaRPr lang="en-US" sz="1000" dirty="0"/>
          </a:p>
        </p:txBody>
      </p:sp>
      <p:sp>
        <p:nvSpPr>
          <p:cNvPr id="15" name="Text 12"/>
          <p:cNvSpPr/>
          <p:nvPr/>
        </p:nvSpPr>
        <p:spPr>
          <a:xfrm>
            <a:off x="6080760" y="4114800"/>
            <a:ext cx="2743200" cy="320040"/>
          </a:xfrm>
          <a:prstGeom prst="rect">
            <a:avLst/>
          </a:prstGeom>
          <a:noFill/>
          <a:ln/>
        </p:spPr>
        <p:txBody>
          <a:bodyPr wrap="square" lIns="0" tIns="0" rIns="0" bIns="0" rtlCol="0" anchor="ctr"/>
          <a:lstStyle/>
          <a:p>
            <a:pPr indent="0" marL="0">
              <a:buNone/>
            </a:pPr>
            <a:r>
              <a:rPr lang="en-US" sz="1100" dirty="0">
                <a:solidFill>
                  <a:srgbClr val="FFFFFF"/>
                </a:solidFill>
              </a:rPr>
              <a:t>Tuned XGBoost — F1: 0.5231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ctr" indent="0" marL="0">
              <a:buNone/>
            </a:pPr>
            <a:r>
              <a:rPr lang="en-US" sz="2600" b="1" dirty="0">
                <a:solidFill>
                  <a:srgbClr val="1E2761"/>
                </a:solidFill>
              </a:rPr>
              <a:t>Final Model — Tuned XGBoost</a:t>
            </a:r>
            <a:endParaRPr lang="en-US" sz="2600" dirty="0"/>
          </a:p>
        </p:txBody>
      </p:sp>
      <p:sp>
        <p:nvSpPr>
          <p:cNvPr id="3" name="Shape 1"/>
          <p:cNvSpPr/>
          <p:nvPr/>
        </p:nvSpPr>
        <p:spPr>
          <a:xfrm>
            <a:off x="365760" y="822960"/>
            <a:ext cx="2286000" cy="1371600"/>
          </a:xfrm>
          <a:prstGeom prst="roundRect">
            <a:avLst>
              <a:gd name="adj" fmla="val 6667"/>
            </a:avLst>
          </a:prstGeom>
          <a:solidFill>
            <a:srgbClr val="1E2761"/>
          </a:solidFill>
          <a:ln/>
        </p:spPr>
      </p:sp>
      <p:sp>
        <p:nvSpPr>
          <p:cNvPr id="4" name="Text 2"/>
          <p:cNvSpPr/>
          <p:nvPr/>
        </p:nvSpPr>
        <p:spPr>
          <a:xfrm>
            <a:off x="365760" y="868680"/>
            <a:ext cx="2286000" cy="868680"/>
          </a:xfrm>
          <a:prstGeom prst="rect">
            <a:avLst/>
          </a:prstGeom>
          <a:noFill/>
          <a:ln/>
        </p:spPr>
        <p:txBody>
          <a:bodyPr wrap="square" lIns="0" tIns="0" rIns="0" bIns="0" rtlCol="0" anchor="ctr"/>
          <a:lstStyle/>
          <a:p>
            <a:pPr algn="ctr" indent="0" marL="0">
              <a:buNone/>
            </a:pPr>
            <a:r>
              <a:rPr lang="en-US" sz="5400" b="1" dirty="0">
                <a:solidFill>
                  <a:srgbClr val="E8A838"/>
                </a:solidFill>
              </a:rPr>
              <a:t>0.52</a:t>
            </a:r>
            <a:endParaRPr lang="en-US" sz="5400" dirty="0"/>
          </a:p>
        </p:txBody>
      </p:sp>
      <p:sp>
        <p:nvSpPr>
          <p:cNvPr id="5" name="Text 3"/>
          <p:cNvSpPr/>
          <p:nvPr/>
        </p:nvSpPr>
        <p:spPr>
          <a:xfrm>
            <a:off x="365760" y="1691640"/>
            <a:ext cx="2286000" cy="365760"/>
          </a:xfrm>
          <a:prstGeom prst="rect">
            <a:avLst/>
          </a:prstGeom>
          <a:noFill/>
          <a:ln/>
        </p:spPr>
        <p:txBody>
          <a:bodyPr wrap="square" lIns="0" tIns="0" rIns="0" bIns="0" rtlCol="0" anchor="ctr"/>
          <a:lstStyle/>
          <a:p>
            <a:pPr algn="ctr" indent="0" marL="0">
              <a:buNone/>
            </a:pPr>
            <a:r>
              <a:rPr lang="en-US" sz="1100" dirty="0">
                <a:solidFill>
                  <a:srgbClr val="CADCFC"/>
                </a:solidFill>
              </a:rPr>
              <a:t>Weighted F1 Score</a:t>
            </a:r>
            <a:endParaRPr lang="en-US" sz="1100" dirty="0"/>
          </a:p>
        </p:txBody>
      </p:sp>
      <p:sp>
        <p:nvSpPr>
          <p:cNvPr id="6" name="Text 4"/>
          <p:cNvSpPr/>
          <p:nvPr/>
        </p:nvSpPr>
        <p:spPr>
          <a:xfrm>
            <a:off x="2926080" y="822960"/>
            <a:ext cx="2926080" cy="320040"/>
          </a:xfrm>
          <a:prstGeom prst="rect">
            <a:avLst/>
          </a:prstGeom>
          <a:noFill/>
          <a:ln/>
        </p:spPr>
        <p:txBody>
          <a:bodyPr wrap="square" lIns="0" tIns="0" rIns="0" bIns="0" rtlCol="0" anchor="ctr"/>
          <a:lstStyle/>
          <a:p>
            <a:pPr indent="0" marL="0">
              <a:buNone/>
            </a:pPr>
            <a:r>
              <a:rPr lang="en-US" sz="1200" b="1" dirty="0">
                <a:solidFill>
                  <a:srgbClr val="1E2761"/>
                </a:solidFill>
              </a:rPr>
              <a:t>Recall by Class</a:t>
            </a:r>
            <a:endParaRPr lang="en-US" sz="1200" dirty="0"/>
          </a:p>
        </p:txBody>
      </p:sp>
      <p:graphicFrame>
        <p:nvGraphicFramePr>
          <p:cNvPr id="7" name="Chart 0" descr=""/>
          <p:cNvGraphicFramePr/>
          <p:nvPr/>
        </p:nvGraphicFramePr>
        <p:xfrm>
          <a:off x="2834640" y="1143000"/>
          <a:ext cx="3108960" cy="2377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126480" y="822960"/>
            <a:ext cx="2743200" cy="320040"/>
          </a:xfrm>
          <a:prstGeom prst="rect">
            <a:avLst/>
          </a:prstGeom>
          <a:noFill/>
          <a:ln/>
        </p:spPr>
        <p:txBody>
          <a:bodyPr wrap="square" lIns="0" tIns="0" rIns="0" bIns="0" rtlCol="0" anchor="ctr"/>
          <a:lstStyle/>
          <a:p>
            <a:pPr indent="0" marL="0">
              <a:buNone/>
            </a:pPr>
            <a:r>
              <a:rPr lang="en-US" sz="1200" b="1" dirty="0">
                <a:solidFill>
                  <a:srgbClr val="1E2761"/>
                </a:solidFill>
              </a:rPr>
              <a:t>Confusion Matrix</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1143000"/>
          <a:ext cx="2834640" cy="1828800"/>
        </p:xfrm>
        <a:graphic>
          <a:graphicData uri="http://schemas.openxmlformats.org/drawingml/2006/table">
            <a:tbl>
              <a:tblPr/>
              <a:tblGrid>
                <a:gridCol w="777240"/>
                <a:gridCol w="685800"/>
                <a:gridCol w="685800"/>
                <a:gridCol w="685800"/>
              </a:tblGrid>
              <a:tr h="429768">
                <a:tc>
                  <a:txBody>
                    <a:bodyPr/>
                    <a:lstStyle/>
                    <a:p>
                      <a:pPr indent="0" marL="0">
                        <a:buNone/>
                      </a:pP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Pred W</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Pred S</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rPr>
                        <a:t>Pred I</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1E2761"/>
                          </a:solidFill>
                        </a:rPr>
                        <a:t>Act W</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ADCFC"/>
                    </a:solidFill>
                  </a:tcPr>
                </a:tc>
                <a:tc>
                  <a:txBody>
                    <a:bodyPr/>
                    <a:lstStyle/>
                    <a:p>
                      <a:pPr algn="ctr" indent="0" marL="0">
                        <a:buNone/>
                      </a:pPr>
                      <a:r>
                        <a:rPr lang="en-US" sz="1100" b="1" dirty="0">
                          <a:solidFill>
                            <a:srgbClr val="FFFFFF"/>
                          </a:solidFill>
                        </a:rPr>
                        <a:t>1881</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5276"/>
                    </a:solidFill>
                  </a:tcPr>
                </a:tc>
                <a:tc>
                  <a:txBody>
                    <a:bodyPr/>
                    <a:lstStyle/>
                    <a:p>
                      <a:pPr algn="ctr" indent="0" marL="0">
                        <a:buNone/>
                      </a:pPr>
                      <a:r>
                        <a:rPr lang="en-US" sz="1100" dirty="0">
                          <a:solidFill>
                            <a:srgbClr val="000000"/>
                          </a:solidFill>
                        </a:rPr>
                        <a:t>189</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rPr>
                        <a:t>127</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E2761"/>
                          </a:solidFill>
                        </a:rPr>
                        <a:t>Act S</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ADCFC"/>
                    </a:solidFill>
                  </a:tcPr>
                </a:tc>
                <a:tc>
                  <a:txBody>
                    <a:bodyPr/>
                    <a:lstStyle/>
                    <a:p>
                      <a:pPr algn="ctr" indent="0" marL="0">
                        <a:buNone/>
                      </a:pPr>
                      <a:r>
                        <a:rPr lang="en-US" sz="1100" dirty="0">
                          <a:solidFill>
                            <a:srgbClr val="000000"/>
                          </a:solidFill>
                        </a:rPr>
                        <a:t>708</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275</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874A6"/>
                    </a:solidFill>
                  </a:tcPr>
                </a:tc>
                <a:tc>
                  <a:txBody>
                    <a:bodyPr/>
                    <a:lstStyle/>
                    <a:p>
                      <a:pPr algn="ctr" indent="0" marL="0">
                        <a:buNone/>
                      </a:pPr>
                      <a:r>
                        <a:rPr lang="en-US" sz="1100" dirty="0">
                          <a:solidFill>
                            <a:srgbClr val="000000"/>
                          </a:solidFill>
                        </a:rPr>
                        <a:t>139</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E2761"/>
                          </a:solidFill>
                        </a:rPr>
                        <a:t>Act I</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ADCFC"/>
                    </a:solidFill>
                  </a:tcPr>
                </a:tc>
                <a:tc>
                  <a:txBody>
                    <a:bodyPr/>
                    <a:lstStyle/>
                    <a:p>
                      <a:pPr algn="ctr" indent="0" marL="0">
                        <a:buNone/>
                      </a:pPr>
                      <a:r>
                        <a:rPr lang="en-US" sz="1100" dirty="0">
                          <a:solidFill>
                            <a:srgbClr val="000000"/>
                          </a:solidFill>
                        </a:rPr>
                        <a:t>489</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rPr>
                        <a:t>145</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222</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5DADE2"/>
                    </a:solidFill>
                  </a:tcPr>
                </a:tc>
              </a:tr>
            </a:tbl>
          </a:graphicData>
        </a:graphic>
      </p:graphicFrame>
      <p:sp>
        <p:nvSpPr>
          <p:cNvPr id="10" name="Text 6"/>
          <p:cNvSpPr/>
          <p:nvPr/>
        </p:nvSpPr>
        <p:spPr>
          <a:xfrm>
            <a:off x="6035040" y="3017520"/>
            <a:ext cx="2834640" cy="274320"/>
          </a:xfrm>
          <a:prstGeom prst="rect">
            <a:avLst/>
          </a:prstGeom>
          <a:noFill/>
          <a:ln/>
        </p:spPr>
        <p:txBody>
          <a:bodyPr wrap="square" lIns="0" tIns="0" rIns="0" bIns="0" rtlCol="0" anchor="ctr"/>
          <a:lstStyle/>
          <a:p>
            <a:pPr algn="ctr" indent="0" marL="0">
              <a:buNone/>
            </a:pPr>
            <a:r>
              <a:rPr lang="en-US" sz="800" dirty="0">
                <a:solidFill>
                  <a:srgbClr val="64748B"/>
                </a:solidFill>
              </a:rPr>
              <a:t>W = Worsened   S = Stayed the same   I = Improved</a:t>
            </a:r>
            <a:endParaRPr lang="en-US" sz="800" dirty="0"/>
          </a:p>
        </p:txBody>
      </p:sp>
      <p:sp>
        <p:nvSpPr>
          <p:cNvPr id="11" name="Shape 7"/>
          <p:cNvSpPr/>
          <p:nvPr/>
        </p:nvSpPr>
        <p:spPr>
          <a:xfrm>
            <a:off x="365760" y="3703320"/>
            <a:ext cx="8412480" cy="1188720"/>
          </a:xfrm>
          <a:prstGeom prst="roundRect">
            <a:avLst>
              <a:gd name="adj" fmla="val 7692"/>
            </a:avLst>
          </a:prstGeom>
          <a:solidFill>
            <a:srgbClr val="EEF2FF"/>
          </a:solidFill>
          <a:ln/>
        </p:spPr>
      </p:sp>
      <p:sp>
        <p:nvSpPr>
          <p:cNvPr id="12" name="Text 8"/>
          <p:cNvSpPr/>
          <p:nvPr/>
        </p:nvSpPr>
        <p:spPr>
          <a:xfrm>
            <a:off x="594360" y="3794760"/>
            <a:ext cx="1371600" cy="320040"/>
          </a:xfrm>
          <a:prstGeom prst="rect">
            <a:avLst/>
          </a:prstGeom>
          <a:noFill/>
          <a:ln/>
        </p:spPr>
        <p:txBody>
          <a:bodyPr wrap="square" lIns="0" tIns="0" rIns="0" bIns="0" rtlCol="0" anchor="ctr"/>
          <a:lstStyle/>
          <a:p>
            <a:pPr indent="0" marL="0">
              <a:buNone/>
            </a:pPr>
            <a:r>
              <a:rPr lang="en-US" sz="1200" b="1" dirty="0">
                <a:solidFill>
                  <a:srgbClr val="1E2761"/>
                </a:solidFill>
              </a:rPr>
              <a:t>Limitation:</a:t>
            </a:r>
            <a:endParaRPr lang="en-US" sz="1200" dirty="0"/>
          </a:p>
        </p:txBody>
      </p:sp>
      <p:sp>
        <p:nvSpPr>
          <p:cNvPr id="13" name="Text 9"/>
          <p:cNvSpPr/>
          <p:nvPr/>
        </p:nvSpPr>
        <p:spPr>
          <a:xfrm>
            <a:off x="594360" y="4114800"/>
            <a:ext cx="8046720" cy="685800"/>
          </a:xfrm>
          <a:prstGeom prst="rect">
            <a:avLst/>
          </a:prstGeom>
          <a:noFill/>
          <a:ln/>
        </p:spPr>
        <p:txBody>
          <a:bodyPr wrap="square" lIns="0" tIns="0" rIns="0" bIns="0" rtlCol="0" anchor="ctr"/>
          <a:lstStyle/>
          <a:p>
            <a:pPr indent="0" marL="0">
              <a:buNone/>
            </a:pPr>
            <a:r>
              <a:rPr lang="en-US" sz="1100" dirty="0">
                <a:solidFill>
                  <a:srgbClr val="1A1A2E"/>
                </a:solidFill>
              </a:rPr>
              <a:t>The model excels at identifying Worsened cases (84% recall) — the most policy-relevant outcome. Distinguishing Stayed same from Improved remains difficult. This is likely a data limitation: the factors that push someone from stable to improving — a new job, a good harvest, a family safety net — are not captured in the survey.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ctr" indent="0" marL="0">
              <a:buNone/>
            </a:pPr>
            <a:r>
              <a:rPr lang="en-US" sz="2600" b="1" dirty="0">
                <a:solidFill>
                  <a:srgbClr val="1E2761"/>
                </a:solidFill>
              </a:rPr>
              <a:t>Three Themes Drive Financial Outcomes in Kenya</a:t>
            </a:r>
            <a:endParaRPr lang="en-US" sz="2600" dirty="0"/>
          </a:p>
        </p:txBody>
      </p:sp>
      <p:sp>
        <p:nvSpPr>
          <p:cNvPr id="3" name="Shape 1"/>
          <p:cNvSpPr/>
          <p:nvPr/>
        </p:nvSpPr>
        <p:spPr>
          <a:xfrm>
            <a:off x="320040" y="868680"/>
            <a:ext cx="2697480" cy="4160520"/>
          </a:xfrm>
          <a:prstGeom prst="roundRect">
            <a:avLst>
              <a:gd name="adj" fmla="val 4068"/>
            </a:avLst>
          </a:prstGeom>
          <a:solidFill>
            <a:srgbClr val="FFFFFF"/>
          </a:solidFill>
          <a:ln/>
          <a:effectLst>
            <a:outerShdw sx="100000" sy="100000" kx="0" ky="0" algn="bl" rotWithShape="0" blurRad="101600" dist="25400" dir="2700000">
              <a:srgbClr val="000000">
                <a:alpha val="10000"/>
              </a:srgbClr>
            </a:outerShdw>
          </a:effectLst>
        </p:spPr>
      </p:sp>
      <p:sp>
        <p:nvSpPr>
          <p:cNvPr id="4" name="Shape 2"/>
          <p:cNvSpPr/>
          <p:nvPr/>
        </p:nvSpPr>
        <p:spPr>
          <a:xfrm>
            <a:off x="457200" y="960120"/>
            <a:ext cx="457200" cy="457200"/>
          </a:xfrm>
          <a:prstGeom prst="ellipse">
            <a:avLst/>
          </a:prstGeom>
          <a:solidFill>
            <a:srgbClr val="1E2761"/>
          </a:solidFill>
          <a:ln/>
        </p:spPr>
      </p:sp>
      <p:sp>
        <p:nvSpPr>
          <p:cNvPr id="5" name="Text 3"/>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E8A838"/>
                </a:solidFill>
              </a:rPr>
              <a:t>1</a:t>
            </a:r>
            <a:endParaRPr lang="en-US" sz="1600" dirty="0"/>
          </a:p>
        </p:txBody>
      </p:sp>
      <p:sp>
        <p:nvSpPr>
          <p:cNvPr id="6" name="Text 4"/>
          <p:cNvSpPr/>
          <p:nvPr/>
        </p:nvSpPr>
        <p:spPr>
          <a:xfrm>
            <a:off x="1005840" y="960120"/>
            <a:ext cx="1920240" cy="457200"/>
          </a:xfrm>
          <a:prstGeom prst="rect">
            <a:avLst/>
          </a:prstGeom>
          <a:noFill/>
          <a:ln/>
        </p:spPr>
        <p:txBody>
          <a:bodyPr wrap="square" lIns="0" tIns="0" rIns="0" bIns="0" rtlCol="0" anchor="ctr"/>
          <a:lstStyle/>
          <a:p>
            <a:pPr algn="l" indent="0" marL="0">
              <a:buNone/>
            </a:pPr>
            <a:r>
              <a:rPr lang="en-US" sz="1300" b="1" dirty="0">
                <a:solidFill>
                  <a:srgbClr val="1E2761"/>
                </a:solidFill>
              </a:rPr>
              <a:t>Financial Resilience</a:t>
            </a:r>
            <a:endParaRPr lang="en-US" sz="1300" dirty="0"/>
          </a:p>
        </p:txBody>
      </p:sp>
      <p:sp>
        <p:nvSpPr>
          <p:cNvPr id="7" name="Shape 5"/>
          <p:cNvSpPr/>
          <p:nvPr/>
        </p:nvSpPr>
        <p:spPr>
          <a:xfrm>
            <a:off x="457200" y="1508760"/>
            <a:ext cx="2423160" cy="685800"/>
          </a:xfrm>
          <a:prstGeom prst="roundRect">
            <a:avLst>
              <a:gd name="adj" fmla="val 9333"/>
            </a:avLst>
          </a:prstGeom>
          <a:solidFill>
            <a:srgbClr val="1E2761"/>
          </a:solidFill>
          <a:ln/>
        </p:spPr>
      </p:sp>
      <p:sp>
        <p:nvSpPr>
          <p:cNvPr id="8" name="Text 6"/>
          <p:cNvSpPr/>
          <p:nvPr/>
        </p:nvSpPr>
        <p:spPr>
          <a:xfrm>
            <a:off x="484632" y="1536192"/>
            <a:ext cx="2368296" cy="347472"/>
          </a:xfrm>
          <a:prstGeom prst="rect">
            <a:avLst/>
          </a:prstGeom>
          <a:noFill/>
          <a:ln/>
        </p:spPr>
        <p:txBody>
          <a:bodyPr wrap="square" lIns="0" tIns="0" rIns="0" bIns="0" rtlCol="0" anchor="ctr"/>
          <a:lstStyle/>
          <a:p>
            <a:pPr algn="ctr" indent="0" marL="0">
              <a:buNone/>
            </a:pPr>
            <a:r>
              <a:rPr lang="en-US" sz="1000" b="1" dirty="0">
                <a:solidFill>
                  <a:srgbClr val="E8A838"/>
                </a:solidFill>
              </a:rPr>
              <a:t>accessto_13k_1month</a:t>
            </a:r>
            <a:endParaRPr lang="en-US" sz="1000" dirty="0"/>
          </a:p>
        </p:txBody>
      </p:sp>
      <p:sp>
        <p:nvSpPr>
          <p:cNvPr id="9" name="Text 7"/>
          <p:cNvSpPr/>
          <p:nvPr/>
        </p:nvSpPr>
        <p:spPr>
          <a:xfrm>
            <a:off x="484632" y="1847088"/>
            <a:ext cx="2368296" cy="256032"/>
          </a:xfrm>
          <a:prstGeom prst="rect">
            <a:avLst/>
          </a:prstGeom>
          <a:noFill/>
          <a:ln/>
        </p:spPr>
        <p:txBody>
          <a:bodyPr wrap="square" lIns="0" tIns="0" rIns="0" bIns="0" rtlCol="0" anchor="ctr"/>
          <a:lstStyle/>
          <a:p>
            <a:pPr algn="ctr" indent="0" marL="0">
              <a:buNone/>
            </a:pPr>
            <a:r>
              <a:rPr lang="en-US" sz="900" dirty="0">
                <a:solidFill>
                  <a:srgbClr val="CADCFC"/>
                </a:solidFill>
              </a:rPr>
              <a:t>#1 strongest predictor</a:t>
            </a:r>
            <a:endParaRPr lang="en-US" sz="900" dirty="0"/>
          </a:p>
        </p:txBody>
      </p:sp>
      <p:sp>
        <p:nvSpPr>
          <p:cNvPr id="10" name="Text 8"/>
          <p:cNvSpPr/>
          <p:nvPr/>
        </p:nvSpPr>
        <p:spPr>
          <a:xfrm>
            <a:off x="457200" y="2286000"/>
            <a:ext cx="2423160" cy="2560320"/>
          </a:xfrm>
          <a:prstGeom prst="rect">
            <a:avLst/>
          </a:prstGeom>
          <a:noFill/>
          <a:ln/>
        </p:spPr>
        <p:txBody>
          <a:bodyPr wrap="square" lIns="50800" tIns="50800" rIns="50800" bIns="50800" rtlCol="0" anchor="ctr"/>
          <a:lstStyle/>
          <a:p>
            <a:pPr marL="342900" indent="-342900">
              <a:spcAft>
                <a:spcPts val="600"/>
              </a:spcAft>
              <a:buSzPct val="100000"/>
              <a:buChar char="•"/>
            </a:pPr>
            <a:r>
              <a:rPr lang="en-US" sz="1000" dirty="0">
                <a:solidFill>
                  <a:srgbClr val="1A1A2E"/>
                </a:solidFill>
              </a:rPr>
              <a:t>Can you access KES 13,000 in an emergency?</a:t>
            </a:r>
            <a:endParaRPr lang="en-US" sz="1000" dirty="0"/>
          </a:p>
          <a:p>
            <a:pPr marL="342900" indent="-342900">
              <a:spcAft>
                <a:spcPts val="600"/>
              </a:spcAft>
              <a:buSzPct val="100000"/>
              <a:buChar char="•"/>
            </a:pPr>
            <a:r>
              <a:rPr lang="en-US" sz="1000" dirty="0">
                <a:solidFill>
                  <a:srgbClr val="1A1A2E"/>
                </a:solidFill>
              </a:rPr>
              <a:t>Formal savings &amp; emergency fund ease also feature strongly</a:t>
            </a:r>
            <a:endParaRPr lang="en-US" sz="1000" dirty="0"/>
          </a:p>
          <a:p>
            <a:pPr marL="342900" indent="-342900">
              <a:spcAft>
                <a:spcPts val="600"/>
              </a:spcAft>
              <a:buSzPct val="100000"/>
              <a:buChar char="•"/>
            </a:pPr>
            <a:r>
              <a:rPr lang="en-US" sz="1000" dirty="0">
                <a:solidFill>
                  <a:srgbClr val="1A1A2E"/>
                </a:solidFill>
              </a:rPr>
              <a:t>People without a financial buffer are most vulnerable</a:t>
            </a:r>
            <a:endParaRPr lang="en-US" sz="1000" dirty="0"/>
          </a:p>
        </p:txBody>
      </p:sp>
      <p:sp>
        <p:nvSpPr>
          <p:cNvPr id="11" name="Shape 9"/>
          <p:cNvSpPr/>
          <p:nvPr/>
        </p:nvSpPr>
        <p:spPr>
          <a:xfrm>
            <a:off x="3182112" y="868680"/>
            <a:ext cx="2697480" cy="4160520"/>
          </a:xfrm>
          <a:prstGeom prst="roundRect">
            <a:avLst>
              <a:gd name="adj" fmla="val 4068"/>
            </a:avLst>
          </a:prstGeom>
          <a:solidFill>
            <a:srgbClr val="FFFFFF"/>
          </a:solidFill>
          <a:ln/>
          <a:effectLst>
            <a:outerShdw sx="100000" sy="100000" kx="0" ky="0" algn="bl" rotWithShape="0" blurRad="101600" dist="25400" dir="2700000">
              <a:srgbClr val="000000">
                <a:alpha val="10000"/>
              </a:srgbClr>
            </a:outerShdw>
          </a:effectLst>
        </p:spPr>
      </p:sp>
      <p:sp>
        <p:nvSpPr>
          <p:cNvPr id="12" name="Shape 10"/>
          <p:cNvSpPr/>
          <p:nvPr/>
        </p:nvSpPr>
        <p:spPr>
          <a:xfrm>
            <a:off x="3319272" y="960120"/>
            <a:ext cx="457200" cy="457200"/>
          </a:xfrm>
          <a:prstGeom prst="ellipse">
            <a:avLst/>
          </a:prstGeom>
          <a:solidFill>
            <a:srgbClr val="1E2761"/>
          </a:solidFill>
          <a:ln/>
        </p:spPr>
      </p:sp>
      <p:sp>
        <p:nvSpPr>
          <p:cNvPr id="13" name="Text 11"/>
          <p:cNvSpPr/>
          <p:nvPr/>
        </p:nvSpPr>
        <p:spPr>
          <a:xfrm>
            <a:off x="3319272" y="960120"/>
            <a:ext cx="457200" cy="457200"/>
          </a:xfrm>
          <a:prstGeom prst="rect">
            <a:avLst/>
          </a:prstGeom>
          <a:noFill/>
          <a:ln/>
        </p:spPr>
        <p:txBody>
          <a:bodyPr wrap="square" lIns="0" tIns="0" rIns="0" bIns="0" rtlCol="0" anchor="ctr"/>
          <a:lstStyle/>
          <a:p>
            <a:pPr algn="ctr" indent="0" marL="0">
              <a:buNone/>
            </a:pPr>
            <a:r>
              <a:rPr lang="en-US" sz="1600" b="1" dirty="0">
                <a:solidFill>
                  <a:srgbClr val="E8A838"/>
                </a:solidFill>
              </a:rPr>
              <a:t>2</a:t>
            </a:r>
            <a:endParaRPr lang="en-US" sz="1600" dirty="0"/>
          </a:p>
        </p:txBody>
      </p:sp>
      <p:sp>
        <p:nvSpPr>
          <p:cNvPr id="14" name="Text 12"/>
          <p:cNvSpPr/>
          <p:nvPr/>
        </p:nvSpPr>
        <p:spPr>
          <a:xfrm>
            <a:off x="3867912" y="960120"/>
            <a:ext cx="1920240" cy="457200"/>
          </a:xfrm>
          <a:prstGeom prst="rect">
            <a:avLst/>
          </a:prstGeom>
          <a:noFill/>
          <a:ln/>
        </p:spPr>
        <p:txBody>
          <a:bodyPr wrap="square" lIns="0" tIns="0" rIns="0" bIns="0" rtlCol="0" anchor="ctr"/>
          <a:lstStyle/>
          <a:p>
            <a:pPr algn="l" indent="0" marL="0">
              <a:buNone/>
            </a:pPr>
            <a:r>
              <a:rPr lang="en-US" sz="1300" b="1" dirty="0">
                <a:solidFill>
                  <a:srgbClr val="1E2761"/>
                </a:solidFill>
              </a:rPr>
              <a:t>Digital Financial Inclusion</a:t>
            </a:r>
            <a:endParaRPr lang="en-US" sz="1300" dirty="0"/>
          </a:p>
        </p:txBody>
      </p:sp>
      <p:sp>
        <p:nvSpPr>
          <p:cNvPr id="15" name="Shape 13"/>
          <p:cNvSpPr/>
          <p:nvPr/>
        </p:nvSpPr>
        <p:spPr>
          <a:xfrm>
            <a:off x="3319272" y="1508760"/>
            <a:ext cx="2423160" cy="685800"/>
          </a:xfrm>
          <a:prstGeom prst="roundRect">
            <a:avLst>
              <a:gd name="adj" fmla="val 9333"/>
            </a:avLst>
          </a:prstGeom>
          <a:solidFill>
            <a:srgbClr val="1E2761"/>
          </a:solidFill>
          <a:ln/>
        </p:spPr>
      </p:sp>
      <p:sp>
        <p:nvSpPr>
          <p:cNvPr id="16" name="Text 14"/>
          <p:cNvSpPr/>
          <p:nvPr/>
        </p:nvSpPr>
        <p:spPr>
          <a:xfrm>
            <a:off x="3346704" y="1536192"/>
            <a:ext cx="2368296" cy="347472"/>
          </a:xfrm>
          <a:prstGeom prst="rect">
            <a:avLst/>
          </a:prstGeom>
          <a:noFill/>
          <a:ln/>
        </p:spPr>
        <p:txBody>
          <a:bodyPr wrap="square" lIns="0" tIns="0" rIns="0" bIns="0" rtlCol="0" anchor="ctr"/>
          <a:lstStyle/>
          <a:p>
            <a:pPr algn="ctr" indent="0" marL="0">
              <a:buNone/>
            </a:pPr>
            <a:r>
              <a:rPr lang="en-US" sz="1000" b="1" dirty="0">
                <a:solidFill>
                  <a:srgbClr val="E8A838"/>
                </a:solidFill>
              </a:rPr>
              <a:t>mobile_money_access</a:t>
            </a:r>
            <a:endParaRPr lang="en-US" sz="1000" dirty="0"/>
          </a:p>
        </p:txBody>
      </p:sp>
      <p:sp>
        <p:nvSpPr>
          <p:cNvPr id="17" name="Text 15"/>
          <p:cNvSpPr/>
          <p:nvPr/>
        </p:nvSpPr>
        <p:spPr>
          <a:xfrm>
            <a:off x="3346704" y="1847088"/>
            <a:ext cx="2368296" cy="256032"/>
          </a:xfrm>
          <a:prstGeom prst="rect">
            <a:avLst/>
          </a:prstGeom>
          <a:noFill/>
          <a:ln/>
        </p:spPr>
        <p:txBody>
          <a:bodyPr wrap="square" lIns="0" tIns="0" rIns="0" bIns="0" rtlCol="0" anchor="ctr"/>
          <a:lstStyle/>
          <a:p>
            <a:pPr algn="ctr" indent="0" marL="0">
              <a:buNone/>
            </a:pPr>
            <a:r>
              <a:rPr lang="en-US" sz="900" dirty="0">
                <a:solidFill>
                  <a:srgbClr val="CADCFC"/>
                </a:solidFill>
              </a:rPr>
              <a:t>#3 strongest predictor</a:t>
            </a:r>
            <a:endParaRPr lang="en-US" sz="900" dirty="0"/>
          </a:p>
        </p:txBody>
      </p:sp>
      <p:sp>
        <p:nvSpPr>
          <p:cNvPr id="18" name="Text 16"/>
          <p:cNvSpPr/>
          <p:nvPr/>
        </p:nvSpPr>
        <p:spPr>
          <a:xfrm>
            <a:off x="3319272" y="2286000"/>
            <a:ext cx="2423160" cy="2560320"/>
          </a:xfrm>
          <a:prstGeom prst="rect">
            <a:avLst/>
          </a:prstGeom>
          <a:noFill/>
          <a:ln/>
        </p:spPr>
        <p:txBody>
          <a:bodyPr wrap="square" lIns="50800" tIns="50800" rIns="50800" bIns="50800" rtlCol="0" anchor="ctr"/>
          <a:lstStyle/>
          <a:p>
            <a:pPr marL="342900" indent="-342900">
              <a:spcAft>
                <a:spcPts val="600"/>
              </a:spcAft>
              <a:buSzPct val="100000"/>
              <a:buChar char="•"/>
            </a:pPr>
            <a:r>
              <a:rPr lang="en-US" sz="1000" dirty="0">
                <a:solidFill>
                  <a:srgbClr val="1A1A2E"/>
                </a:solidFill>
              </a:rPr>
              <a:t>Mobile money is a lifeline — not just a convenience</a:t>
            </a:r>
            <a:endParaRPr lang="en-US" sz="1000" dirty="0"/>
          </a:p>
          <a:p>
            <a:pPr marL="342900" indent="-342900">
              <a:spcAft>
                <a:spcPts val="600"/>
              </a:spcAft>
              <a:buSzPct val="100000"/>
              <a:buChar char="•"/>
            </a:pPr>
            <a:r>
              <a:rPr lang="en-US" sz="1000" dirty="0">
                <a:solidFill>
                  <a:srgbClr val="1A1A2E"/>
                </a:solidFill>
              </a:rPr>
              <a:t>Banking eligibility barriers also appear in top 15</a:t>
            </a:r>
            <a:endParaRPr lang="en-US" sz="1000" dirty="0"/>
          </a:p>
          <a:p>
            <a:pPr marL="342900" indent="-342900">
              <a:spcAft>
                <a:spcPts val="600"/>
              </a:spcAft>
              <a:buSzPct val="100000"/>
              <a:buChar char="•"/>
            </a:pPr>
            <a:r>
              <a:rPr lang="en-US" sz="1000" dirty="0">
                <a:solidFill>
                  <a:srgbClr val="1A1A2E"/>
                </a:solidFill>
              </a:rPr>
              <a:t>Digital exclusion compounds financial vulnerability</a:t>
            </a:r>
            <a:endParaRPr lang="en-US" sz="1000" dirty="0"/>
          </a:p>
        </p:txBody>
      </p:sp>
      <p:sp>
        <p:nvSpPr>
          <p:cNvPr id="19" name="Shape 17"/>
          <p:cNvSpPr/>
          <p:nvPr/>
        </p:nvSpPr>
        <p:spPr>
          <a:xfrm>
            <a:off x="6044184" y="868680"/>
            <a:ext cx="2697480" cy="4160520"/>
          </a:xfrm>
          <a:prstGeom prst="roundRect">
            <a:avLst>
              <a:gd name="adj" fmla="val 4068"/>
            </a:avLst>
          </a:prstGeom>
          <a:solidFill>
            <a:srgbClr val="FFFFFF"/>
          </a:solidFill>
          <a:ln/>
          <a:effectLst>
            <a:outerShdw sx="100000" sy="100000" kx="0" ky="0" algn="bl" rotWithShape="0" blurRad="101600" dist="25400" dir="2700000">
              <a:srgbClr val="000000">
                <a:alpha val="10000"/>
              </a:srgbClr>
            </a:outerShdw>
          </a:effectLst>
        </p:spPr>
      </p:sp>
      <p:sp>
        <p:nvSpPr>
          <p:cNvPr id="20" name="Shape 18"/>
          <p:cNvSpPr/>
          <p:nvPr/>
        </p:nvSpPr>
        <p:spPr>
          <a:xfrm>
            <a:off x="6181344" y="960120"/>
            <a:ext cx="457200" cy="457200"/>
          </a:xfrm>
          <a:prstGeom prst="ellipse">
            <a:avLst/>
          </a:prstGeom>
          <a:solidFill>
            <a:srgbClr val="1E2761"/>
          </a:solidFill>
          <a:ln/>
        </p:spPr>
      </p:sp>
      <p:sp>
        <p:nvSpPr>
          <p:cNvPr id="21" name="Text 19"/>
          <p:cNvSpPr/>
          <p:nvPr/>
        </p:nvSpPr>
        <p:spPr>
          <a:xfrm>
            <a:off x="6181344" y="960120"/>
            <a:ext cx="457200" cy="457200"/>
          </a:xfrm>
          <a:prstGeom prst="rect">
            <a:avLst/>
          </a:prstGeom>
          <a:noFill/>
          <a:ln/>
        </p:spPr>
        <p:txBody>
          <a:bodyPr wrap="square" lIns="0" tIns="0" rIns="0" bIns="0" rtlCol="0" anchor="ctr"/>
          <a:lstStyle/>
          <a:p>
            <a:pPr algn="ctr" indent="0" marL="0">
              <a:buNone/>
            </a:pPr>
            <a:r>
              <a:rPr lang="en-US" sz="1600" b="1" dirty="0">
                <a:solidFill>
                  <a:srgbClr val="E8A838"/>
                </a:solidFill>
              </a:rPr>
              <a:t>3</a:t>
            </a:r>
            <a:endParaRPr lang="en-US" sz="1600" dirty="0"/>
          </a:p>
        </p:txBody>
      </p:sp>
      <p:sp>
        <p:nvSpPr>
          <p:cNvPr id="22" name="Text 20"/>
          <p:cNvSpPr/>
          <p:nvPr/>
        </p:nvSpPr>
        <p:spPr>
          <a:xfrm>
            <a:off x="6729984" y="960120"/>
            <a:ext cx="1920240" cy="457200"/>
          </a:xfrm>
          <a:prstGeom prst="rect">
            <a:avLst/>
          </a:prstGeom>
          <a:noFill/>
          <a:ln/>
        </p:spPr>
        <p:txBody>
          <a:bodyPr wrap="square" lIns="0" tIns="0" rIns="0" bIns="0" rtlCol="0" anchor="ctr"/>
          <a:lstStyle/>
          <a:p>
            <a:pPr algn="l" indent="0" marL="0">
              <a:buNone/>
            </a:pPr>
            <a:r>
              <a:rPr lang="en-US" sz="1300" b="1" dirty="0">
                <a:solidFill>
                  <a:srgbClr val="1E2761"/>
                </a:solidFill>
              </a:rPr>
              <a:t>Structural Vulnerability</a:t>
            </a:r>
            <a:endParaRPr lang="en-US" sz="1300" dirty="0"/>
          </a:p>
        </p:txBody>
      </p:sp>
      <p:sp>
        <p:nvSpPr>
          <p:cNvPr id="23" name="Shape 21"/>
          <p:cNvSpPr/>
          <p:nvPr/>
        </p:nvSpPr>
        <p:spPr>
          <a:xfrm>
            <a:off x="6181344" y="1508760"/>
            <a:ext cx="2423160" cy="685800"/>
          </a:xfrm>
          <a:prstGeom prst="roundRect">
            <a:avLst>
              <a:gd name="adj" fmla="val 9333"/>
            </a:avLst>
          </a:prstGeom>
          <a:solidFill>
            <a:srgbClr val="1E2761"/>
          </a:solidFill>
          <a:ln/>
        </p:spPr>
      </p:sp>
      <p:sp>
        <p:nvSpPr>
          <p:cNvPr id="24" name="Text 22"/>
          <p:cNvSpPr/>
          <p:nvPr/>
        </p:nvSpPr>
        <p:spPr>
          <a:xfrm>
            <a:off x="6208776" y="1536192"/>
            <a:ext cx="2368296" cy="347472"/>
          </a:xfrm>
          <a:prstGeom prst="rect">
            <a:avLst/>
          </a:prstGeom>
          <a:noFill/>
          <a:ln/>
        </p:spPr>
        <p:txBody>
          <a:bodyPr wrap="square" lIns="0" tIns="0" rIns="0" bIns="0" rtlCol="0" anchor="ctr"/>
          <a:lstStyle/>
          <a:p>
            <a:pPr algn="ctr" indent="0" marL="0">
              <a:buNone/>
            </a:pPr>
            <a:r>
              <a:rPr lang="en-US" sz="1000" b="1" dirty="0">
                <a:solidFill>
                  <a:srgbClr val="E8A838"/>
                </a:solidFill>
              </a:rPr>
              <a:t>education_level_None</a:t>
            </a:r>
            <a:endParaRPr lang="en-US" sz="1000" dirty="0"/>
          </a:p>
        </p:txBody>
      </p:sp>
      <p:sp>
        <p:nvSpPr>
          <p:cNvPr id="25" name="Text 23"/>
          <p:cNvSpPr/>
          <p:nvPr/>
        </p:nvSpPr>
        <p:spPr>
          <a:xfrm>
            <a:off x="6208776" y="1847088"/>
            <a:ext cx="2368296" cy="256032"/>
          </a:xfrm>
          <a:prstGeom prst="rect">
            <a:avLst/>
          </a:prstGeom>
          <a:noFill/>
          <a:ln/>
        </p:spPr>
        <p:txBody>
          <a:bodyPr wrap="square" lIns="0" tIns="0" rIns="0" bIns="0" rtlCol="0" anchor="ctr"/>
          <a:lstStyle/>
          <a:p>
            <a:pPr algn="ctr" indent="0" marL="0">
              <a:buNone/>
            </a:pPr>
            <a:r>
              <a:rPr lang="en-US" sz="900" dirty="0">
                <a:solidFill>
                  <a:srgbClr val="CADCFC"/>
                </a:solidFill>
              </a:rPr>
              <a:t>#7 strongest predictor</a:t>
            </a:r>
            <a:endParaRPr lang="en-US" sz="900" dirty="0"/>
          </a:p>
        </p:txBody>
      </p:sp>
      <p:sp>
        <p:nvSpPr>
          <p:cNvPr id="26" name="Text 24"/>
          <p:cNvSpPr/>
          <p:nvPr/>
        </p:nvSpPr>
        <p:spPr>
          <a:xfrm>
            <a:off x="6181344" y="2286000"/>
            <a:ext cx="2423160" cy="2560320"/>
          </a:xfrm>
          <a:prstGeom prst="rect">
            <a:avLst/>
          </a:prstGeom>
          <a:noFill/>
          <a:ln/>
        </p:spPr>
        <p:txBody>
          <a:bodyPr wrap="square" lIns="50800" tIns="50800" rIns="50800" bIns="50800" rtlCol="0" anchor="ctr"/>
          <a:lstStyle/>
          <a:p>
            <a:pPr marL="342900" indent="-342900">
              <a:spcAft>
                <a:spcPts val="600"/>
              </a:spcAft>
              <a:buSzPct val="100000"/>
              <a:buChar char="•"/>
            </a:pPr>
            <a:r>
              <a:rPr lang="en-US" sz="1000" dirty="0">
                <a:solidFill>
                  <a:srgbClr val="1A1A2E"/>
                </a:solidFill>
              </a:rPr>
              <a:t>No formal education strongly predicts deterioration</a:t>
            </a:r>
            <a:endParaRPr lang="en-US" sz="1000" dirty="0"/>
          </a:p>
          <a:p>
            <a:pPr marL="342900" indent="-342900">
              <a:spcAft>
                <a:spcPts val="600"/>
              </a:spcAft>
              <a:buSzPct val="100000"/>
              <a:buChar char="•"/>
            </a:pPr>
            <a:r>
              <a:rPr lang="en-US" sz="1000" dirty="0">
                <a:solidFill>
                  <a:srgbClr val="1A1A2E"/>
                </a:solidFill>
              </a:rPr>
              <a:t>Food insecurity (nfhi_11) &amp; debt stress (nfhi_13) are key drivers</a:t>
            </a:r>
            <a:endParaRPr lang="en-US" sz="1000" dirty="0"/>
          </a:p>
          <a:p>
            <a:pPr marL="342900" indent="-342900">
              <a:spcAft>
                <a:spcPts val="600"/>
              </a:spcAft>
              <a:buSzPct val="100000"/>
              <a:buChar char="•"/>
            </a:pPr>
            <a:r>
              <a:rPr lang="en-US" sz="1000" dirty="0">
                <a:solidFill>
                  <a:srgbClr val="1A1A2E"/>
                </a:solidFill>
              </a:rPr>
              <a:t>fl_score correlation = 0.02 — literacy without access ≠ protection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ctr" indent="0" marL="0">
              <a:buNone/>
            </a:pPr>
            <a:r>
              <a:rPr lang="en-US" sz="3000" b="1" dirty="0">
                <a:solidFill>
                  <a:srgbClr val="FFFFFF"/>
                </a:solidFill>
              </a:rPr>
              <a:t>Three Actions. Real Impact.</a:t>
            </a:r>
            <a:endParaRPr lang="en-US" sz="3000" dirty="0"/>
          </a:p>
        </p:txBody>
      </p:sp>
      <p:sp>
        <p:nvSpPr>
          <p:cNvPr id="3" name="Shape 1"/>
          <p:cNvSpPr/>
          <p:nvPr/>
        </p:nvSpPr>
        <p:spPr>
          <a:xfrm>
            <a:off x="320040" y="960120"/>
            <a:ext cx="2697480" cy="3931920"/>
          </a:xfrm>
          <a:prstGeom prst="roundRect">
            <a:avLst>
              <a:gd name="adj" fmla="val 4068"/>
            </a:avLst>
          </a:prstGeom>
          <a:solidFill>
            <a:srgbClr val="243070"/>
          </a:solidFill>
          <a:ln/>
          <a:effectLst>
            <a:outerShdw sx="100000" sy="100000" kx="0" ky="0" algn="bl" rotWithShape="0" blurRad="127000" dist="38100" dir="2700000">
              <a:srgbClr val="000000">
                <a:alpha val="20000"/>
              </a:srgbClr>
            </a:outerShdw>
          </a:effectLst>
        </p:spPr>
      </p:sp>
      <p:sp>
        <p:nvSpPr>
          <p:cNvPr id="4" name="Text 2"/>
          <p:cNvSpPr/>
          <p:nvPr/>
        </p:nvSpPr>
        <p:spPr>
          <a:xfrm>
            <a:off x="457200" y="1051560"/>
            <a:ext cx="685800" cy="457200"/>
          </a:xfrm>
          <a:prstGeom prst="rect">
            <a:avLst/>
          </a:prstGeom>
          <a:noFill/>
          <a:ln/>
        </p:spPr>
        <p:txBody>
          <a:bodyPr wrap="square" lIns="0" tIns="0" rIns="0" bIns="0" rtlCol="0" anchor="ctr"/>
          <a:lstStyle/>
          <a:p>
            <a:pPr algn="l" indent="0" marL="0">
              <a:buNone/>
            </a:pPr>
            <a:r>
              <a:rPr lang="en-US" sz="2600" b="1" dirty="0">
                <a:solidFill>
                  <a:srgbClr val="E8A838"/>
                </a:solidFill>
              </a:rPr>
              <a:t>01</a:t>
            </a:r>
            <a:endParaRPr lang="en-US" sz="2600" dirty="0"/>
          </a:p>
        </p:txBody>
      </p:sp>
      <p:sp>
        <p:nvSpPr>
          <p:cNvPr id="5" name="Text 3"/>
          <p:cNvSpPr/>
          <p:nvPr/>
        </p:nvSpPr>
        <p:spPr>
          <a:xfrm>
            <a:off x="1143000" y="1097280"/>
            <a:ext cx="1783080" cy="365760"/>
          </a:xfrm>
          <a:prstGeom prst="rect">
            <a:avLst/>
          </a:prstGeom>
          <a:noFill/>
          <a:ln/>
        </p:spPr>
        <p:txBody>
          <a:bodyPr wrap="square" lIns="0" tIns="0" rIns="0" bIns="0" rtlCol="0" anchor="ctr"/>
          <a:lstStyle/>
          <a:p>
            <a:pPr algn="l" indent="0" marL="0">
              <a:buNone/>
            </a:pPr>
            <a:r>
              <a:rPr lang="en-US" sz="900" i="1" dirty="0">
                <a:solidFill>
                  <a:srgbClr val="CADCFC"/>
                </a:solidFill>
              </a:rPr>
              <a:t>Banks &amp; SACCOs</a:t>
            </a:r>
            <a:endParaRPr lang="en-US" sz="900" dirty="0"/>
          </a:p>
        </p:txBody>
      </p:sp>
      <p:sp>
        <p:nvSpPr>
          <p:cNvPr id="6" name="Text 4"/>
          <p:cNvSpPr/>
          <p:nvPr/>
        </p:nvSpPr>
        <p:spPr>
          <a:xfrm>
            <a:off x="457200" y="1508760"/>
            <a:ext cx="2423160" cy="685800"/>
          </a:xfrm>
          <a:prstGeom prst="rect">
            <a:avLst/>
          </a:prstGeom>
          <a:noFill/>
          <a:ln/>
        </p:spPr>
        <p:txBody>
          <a:bodyPr wrap="square" lIns="0" tIns="0" rIns="0" bIns="0" rtlCol="0" anchor="t"/>
          <a:lstStyle/>
          <a:p>
            <a:pPr algn="l" indent="0" marL="0">
              <a:buNone/>
            </a:pPr>
            <a:r>
              <a:rPr lang="en-US" sz="1400" b="1" dirty="0">
                <a:solidFill>
                  <a:srgbClr val="FFFFFF"/>
                </a:solidFill>
              </a:rPr>
              <a:t>Build Emergency</a:t>
            </a:r>
            <a:endParaRPr lang="en-US" sz="1400" dirty="0"/>
          </a:p>
          <a:p>
            <a:pPr algn="l" indent="0" marL="0">
              <a:buNone/>
            </a:pPr>
            <a:r>
              <a:rPr lang="en-US" sz="1400" b="1" dirty="0">
                <a:solidFill>
                  <a:srgbClr val="FFFFFF"/>
                </a:solidFill>
              </a:rPr>
              <a:t>Financial Buffers</a:t>
            </a:r>
            <a:endParaRPr lang="en-US" sz="1400" dirty="0"/>
          </a:p>
        </p:txBody>
      </p:sp>
      <p:sp>
        <p:nvSpPr>
          <p:cNvPr id="7" name="Text 5"/>
          <p:cNvSpPr/>
          <p:nvPr/>
        </p:nvSpPr>
        <p:spPr>
          <a:xfrm>
            <a:off x="457200" y="2286000"/>
            <a:ext cx="2423160" cy="2377440"/>
          </a:xfrm>
          <a:prstGeom prst="rect">
            <a:avLst/>
          </a:prstGeom>
          <a:noFill/>
          <a:ln/>
        </p:spPr>
        <p:txBody>
          <a:bodyPr wrap="square" lIns="50800" tIns="50800" rIns="50800" bIns="50800" rtlCol="0" anchor="t"/>
          <a:lstStyle/>
          <a:p>
            <a:pPr algn="l" indent="0" marL="0">
              <a:buNone/>
            </a:pPr>
            <a:r>
              <a:rPr lang="en-US" sz="1100" dirty="0">
                <a:solidFill>
                  <a:srgbClr val="CADCFC"/>
                </a:solidFill>
              </a:rPr>
              <a:t>Design accessible emergency credit products around the KES 13,000 threshold. Emergency fund access is our single strongest predictor — and a gap that product design can directly close.</a:t>
            </a:r>
            <a:endParaRPr lang="en-US" sz="1100" dirty="0"/>
          </a:p>
        </p:txBody>
      </p:sp>
      <p:sp>
        <p:nvSpPr>
          <p:cNvPr id="8" name="Shape 6"/>
          <p:cNvSpPr/>
          <p:nvPr/>
        </p:nvSpPr>
        <p:spPr>
          <a:xfrm>
            <a:off x="3182112" y="960120"/>
            <a:ext cx="2697480" cy="3931920"/>
          </a:xfrm>
          <a:prstGeom prst="roundRect">
            <a:avLst>
              <a:gd name="adj" fmla="val 4068"/>
            </a:avLst>
          </a:prstGeom>
          <a:solidFill>
            <a:srgbClr val="243070"/>
          </a:solidFill>
          <a:ln/>
          <a:effectLst>
            <a:outerShdw sx="100000" sy="100000" kx="0" ky="0" algn="bl" rotWithShape="0" blurRad="127000" dist="38100" dir="2700000">
              <a:srgbClr val="000000">
                <a:alpha val="20000"/>
              </a:srgbClr>
            </a:outerShdw>
          </a:effectLst>
        </p:spPr>
      </p:sp>
      <p:sp>
        <p:nvSpPr>
          <p:cNvPr id="9" name="Text 7"/>
          <p:cNvSpPr/>
          <p:nvPr/>
        </p:nvSpPr>
        <p:spPr>
          <a:xfrm>
            <a:off x="3319272" y="1051560"/>
            <a:ext cx="685800" cy="457200"/>
          </a:xfrm>
          <a:prstGeom prst="rect">
            <a:avLst/>
          </a:prstGeom>
          <a:noFill/>
          <a:ln/>
        </p:spPr>
        <p:txBody>
          <a:bodyPr wrap="square" lIns="0" tIns="0" rIns="0" bIns="0" rtlCol="0" anchor="ctr"/>
          <a:lstStyle/>
          <a:p>
            <a:pPr algn="l" indent="0" marL="0">
              <a:buNone/>
            </a:pPr>
            <a:r>
              <a:rPr lang="en-US" sz="2600" b="1" dirty="0">
                <a:solidFill>
                  <a:srgbClr val="E8A838"/>
                </a:solidFill>
              </a:rPr>
              <a:t>02</a:t>
            </a:r>
            <a:endParaRPr lang="en-US" sz="2600" dirty="0"/>
          </a:p>
        </p:txBody>
      </p:sp>
      <p:sp>
        <p:nvSpPr>
          <p:cNvPr id="10" name="Text 8"/>
          <p:cNvSpPr/>
          <p:nvPr/>
        </p:nvSpPr>
        <p:spPr>
          <a:xfrm>
            <a:off x="4005072" y="1097280"/>
            <a:ext cx="1783080" cy="365760"/>
          </a:xfrm>
          <a:prstGeom prst="rect">
            <a:avLst/>
          </a:prstGeom>
          <a:noFill/>
          <a:ln/>
        </p:spPr>
        <p:txBody>
          <a:bodyPr wrap="square" lIns="0" tIns="0" rIns="0" bIns="0" rtlCol="0" anchor="ctr"/>
          <a:lstStyle/>
          <a:p>
            <a:pPr algn="l" indent="0" marL="0">
              <a:buNone/>
            </a:pPr>
            <a:r>
              <a:rPr lang="en-US" sz="900" i="1" dirty="0">
                <a:solidFill>
                  <a:srgbClr val="CADCFC"/>
                </a:solidFill>
              </a:rPr>
              <a:t>Government &amp; Telecoms</a:t>
            </a:r>
            <a:endParaRPr lang="en-US" sz="900" dirty="0"/>
          </a:p>
        </p:txBody>
      </p:sp>
      <p:sp>
        <p:nvSpPr>
          <p:cNvPr id="11" name="Text 9"/>
          <p:cNvSpPr/>
          <p:nvPr/>
        </p:nvSpPr>
        <p:spPr>
          <a:xfrm>
            <a:off x="3319272" y="1508760"/>
            <a:ext cx="2423160" cy="685800"/>
          </a:xfrm>
          <a:prstGeom prst="rect">
            <a:avLst/>
          </a:prstGeom>
          <a:noFill/>
          <a:ln/>
        </p:spPr>
        <p:txBody>
          <a:bodyPr wrap="square" lIns="0" tIns="0" rIns="0" bIns="0" rtlCol="0" anchor="t"/>
          <a:lstStyle/>
          <a:p>
            <a:pPr algn="l" indent="0" marL="0">
              <a:buNone/>
            </a:pPr>
            <a:r>
              <a:rPr lang="en-US" sz="1400" b="1" dirty="0">
                <a:solidFill>
                  <a:srgbClr val="FFFFFF"/>
                </a:solidFill>
              </a:rPr>
              <a:t>Remove Barriers to</a:t>
            </a:r>
            <a:endParaRPr lang="en-US" sz="1400" dirty="0"/>
          </a:p>
          <a:p>
            <a:pPr algn="l" indent="0" marL="0">
              <a:buNone/>
            </a:pPr>
            <a:r>
              <a:rPr lang="en-US" sz="1400" b="1" dirty="0">
                <a:solidFill>
                  <a:srgbClr val="FFFFFF"/>
                </a:solidFill>
              </a:rPr>
              <a:t>Digital Access</a:t>
            </a:r>
            <a:endParaRPr lang="en-US" sz="1400" dirty="0"/>
          </a:p>
        </p:txBody>
      </p:sp>
      <p:sp>
        <p:nvSpPr>
          <p:cNvPr id="12" name="Text 10"/>
          <p:cNvSpPr/>
          <p:nvPr/>
        </p:nvSpPr>
        <p:spPr>
          <a:xfrm>
            <a:off x="3319272" y="2286000"/>
            <a:ext cx="2423160" cy="2377440"/>
          </a:xfrm>
          <a:prstGeom prst="rect">
            <a:avLst/>
          </a:prstGeom>
          <a:noFill/>
          <a:ln/>
        </p:spPr>
        <p:txBody>
          <a:bodyPr wrap="square" lIns="50800" tIns="50800" rIns="50800" bIns="50800" rtlCol="0" anchor="t"/>
          <a:lstStyle/>
          <a:p>
            <a:pPr algn="l" indent="0" marL="0">
              <a:buNone/>
            </a:pPr>
            <a:r>
              <a:rPr lang="en-US" sz="1100" dirty="0">
                <a:solidFill>
                  <a:srgbClr val="CADCFC"/>
                </a:solidFill>
              </a:rPr>
              <a:t>Mobile money is a protective factor, not just a convenience. Eliminate eligibility barriers — especially for rural women and those without national IDs who are currently locked out.</a:t>
            </a:r>
            <a:endParaRPr lang="en-US" sz="1100" dirty="0"/>
          </a:p>
        </p:txBody>
      </p:sp>
      <p:sp>
        <p:nvSpPr>
          <p:cNvPr id="13" name="Shape 11"/>
          <p:cNvSpPr/>
          <p:nvPr/>
        </p:nvSpPr>
        <p:spPr>
          <a:xfrm>
            <a:off x="6044184" y="960120"/>
            <a:ext cx="2697480" cy="3931920"/>
          </a:xfrm>
          <a:prstGeom prst="roundRect">
            <a:avLst>
              <a:gd name="adj" fmla="val 4068"/>
            </a:avLst>
          </a:prstGeom>
          <a:solidFill>
            <a:srgbClr val="243070"/>
          </a:solidFill>
          <a:ln/>
          <a:effectLst>
            <a:outerShdw sx="100000" sy="100000" kx="0" ky="0" algn="bl" rotWithShape="0" blurRad="127000" dist="38100" dir="2700000">
              <a:srgbClr val="000000">
                <a:alpha val="20000"/>
              </a:srgbClr>
            </a:outerShdw>
          </a:effectLst>
        </p:spPr>
      </p:sp>
      <p:sp>
        <p:nvSpPr>
          <p:cNvPr id="14" name="Text 12"/>
          <p:cNvSpPr/>
          <p:nvPr/>
        </p:nvSpPr>
        <p:spPr>
          <a:xfrm>
            <a:off x="6181344" y="1051560"/>
            <a:ext cx="685800" cy="457200"/>
          </a:xfrm>
          <a:prstGeom prst="rect">
            <a:avLst/>
          </a:prstGeom>
          <a:noFill/>
          <a:ln/>
        </p:spPr>
        <p:txBody>
          <a:bodyPr wrap="square" lIns="0" tIns="0" rIns="0" bIns="0" rtlCol="0" anchor="ctr"/>
          <a:lstStyle/>
          <a:p>
            <a:pPr algn="l" indent="0" marL="0">
              <a:buNone/>
            </a:pPr>
            <a:r>
              <a:rPr lang="en-US" sz="2600" b="1" dirty="0">
                <a:solidFill>
                  <a:srgbClr val="E8A838"/>
                </a:solidFill>
              </a:rPr>
              <a:t>03</a:t>
            </a:r>
            <a:endParaRPr lang="en-US" sz="2600" dirty="0"/>
          </a:p>
        </p:txBody>
      </p:sp>
      <p:sp>
        <p:nvSpPr>
          <p:cNvPr id="15" name="Text 13"/>
          <p:cNvSpPr/>
          <p:nvPr/>
        </p:nvSpPr>
        <p:spPr>
          <a:xfrm>
            <a:off x="6867144" y="1097280"/>
            <a:ext cx="1783080" cy="365760"/>
          </a:xfrm>
          <a:prstGeom prst="rect">
            <a:avLst/>
          </a:prstGeom>
          <a:noFill/>
          <a:ln/>
        </p:spPr>
        <p:txBody>
          <a:bodyPr wrap="square" lIns="0" tIns="0" rIns="0" bIns="0" rtlCol="0" anchor="ctr"/>
          <a:lstStyle/>
          <a:p>
            <a:pPr algn="l" indent="0" marL="0">
              <a:buNone/>
            </a:pPr>
            <a:r>
              <a:rPr lang="en-US" sz="900" i="1" dirty="0">
                <a:solidFill>
                  <a:srgbClr val="CADCFC"/>
                </a:solidFill>
              </a:rPr>
              <a:t>NGOs &amp; Policymakers</a:t>
            </a:r>
            <a:endParaRPr lang="en-US" sz="900" dirty="0"/>
          </a:p>
        </p:txBody>
      </p:sp>
      <p:sp>
        <p:nvSpPr>
          <p:cNvPr id="16" name="Text 14"/>
          <p:cNvSpPr/>
          <p:nvPr/>
        </p:nvSpPr>
        <p:spPr>
          <a:xfrm>
            <a:off x="6181344" y="1508760"/>
            <a:ext cx="2423160" cy="685800"/>
          </a:xfrm>
          <a:prstGeom prst="rect">
            <a:avLst/>
          </a:prstGeom>
          <a:noFill/>
          <a:ln/>
        </p:spPr>
        <p:txBody>
          <a:bodyPr wrap="square" lIns="0" tIns="0" rIns="0" bIns="0" rtlCol="0" anchor="t"/>
          <a:lstStyle/>
          <a:p>
            <a:pPr algn="l" indent="0" marL="0">
              <a:buNone/>
            </a:pPr>
            <a:r>
              <a:rPr lang="en-US" sz="1400" b="1" dirty="0">
                <a:solidFill>
                  <a:srgbClr val="FFFFFF"/>
                </a:solidFill>
              </a:rPr>
              <a:t>Pair Literacy With</a:t>
            </a:r>
            <a:endParaRPr lang="en-US" sz="1400" dirty="0"/>
          </a:p>
          <a:p>
            <a:pPr algn="l" indent="0" marL="0">
              <a:buNone/>
            </a:pPr>
            <a:r>
              <a:rPr lang="en-US" sz="1400" b="1" dirty="0">
                <a:solidFill>
                  <a:srgbClr val="FFFFFF"/>
                </a:solidFill>
              </a:rPr>
              <a:t>Product Access</a:t>
            </a:r>
            <a:endParaRPr lang="en-US" sz="1400" dirty="0"/>
          </a:p>
        </p:txBody>
      </p:sp>
      <p:sp>
        <p:nvSpPr>
          <p:cNvPr id="17" name="Text 15"/>
          <p:cNvSpPr/>
          <p:nvPr/>
        </p:nvSpPr>
        <p:spPr>
          <a:xfrm>
            <a:off x="6181344" y="2286000"/>
            <a:ext cx="2423160" cy="2377440"/>
          </a:xfrm>
          <a:prstGeom prst="rect">
            <a:avLst/>
          </a:prstGeom>
          <a:noFill/>
          <a:ln/>
        </p:spPr>
        <p:txBody>
          <a:bodyPr wrap="square" lIns="50800" tIns="50800" rIns="50800" bIns="50800" rtlCol="0" anchor="t"/>
          <a:lstStyle/>
          <a:p>
            <a:pPr algn="l" indent="0" marL="0">
              <a:buNone/>
            </a:pPr>
            <a:r>
              <a:rPr lang="en-US" sz="1100" dirty="0">
                <a:solidFill>
                  <a:srgbClr val="CADCFC"/>
                </a:solidFill>
              </a:rPr>
              <a:t>Literacy alone delivers near-zero measurable impact (r = 0.02). Every programme must be bundled with a savings account, emergency credit, or mobile money registration to move the needle.</a:t>
            </a:r>
            <a:endParaRPr lang="en-US" sz="1100" dirty="0"/>
          </a:p>
        </p:txBody>
      </p:sp>
      <p:sp>
        <p:nvSpPr>
          <p:cNvPr id="18" name="Text 16"/>
          <p:cNvSpPr/>
          <p:nvPr/>
        </p:nvSpPr>
        <p:spPr>
          <a:xfrm>
            <a:off x="457200" y="4846320"/>
            <a:ext cx="8229600" cy="228600"/>
          </a:xfrm>
          <a:prstGeom prst="rect">
            <a:avLst/>
          </a:prstGeom>
          <a:noFill/>
          <a:ln/>
        </p:spPr>
        <p:txBody>
          <a:bodyPr wrap="square" lIns="0" tIns="0" rIns="0" bIns="0" rtlCol="0" anchor="ctr"/>
          <a:lstStyle/>
          <a:p>
            <a:pPr algn="ctr" indent="0" marL="0">
              <a:buNone/>
            </a:pPr>
            <a:r>
              <a:rPr lang="en-US" sz="900" dirty="0">
                <a:solidFill>
                  <a:srgbClr val="64748B"/>
                </a:solidFill>
              </a:rPr>
              <a:t>DataSprint 2026 · Strathmore Data Community × iLab Africa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DataSprint 2026 - FinAccess Kenya</dc:title>
  <dc:subject>PptxGenJS Presentation</dc:subject>
  <dc:creator>PptxGenJS</dc:creator>
  <cp:lastModifiedBy>PptxGenJS</cp:lastModifiedBy>
  <cp:revision>1</cp:revision>
  <dcterms:created xsi:type="dcterms:W3CDTF">2026-06-15T18:01:43Z</dcterms:created>
  <dcterms:modified xsi:type="dcterms:W3CDTF">2026-06-15T18:01:43Z</dcterms:modified>
</cp:coreProperties>
</file>